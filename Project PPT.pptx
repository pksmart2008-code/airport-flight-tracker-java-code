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chivo Black" panose="020B0604020202020204" charset="0"/>
      <p:regular r:id="rId15"/>
    </p:embeddedFont>
    <p:embeddedFont>
      <p:font typeface="Lato Italics" panose="020B0604020202020204" charset="0"/>
      <p:regular r:id="rId16"/>
    </p:embeddedFont>
    <p:embeddedFont>
      <p:font typeface="Red Hat Display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kumar SB" userId="c58843396e9a3c31" providerId="LiveId" clId="{87ED25A8-1540-45FB-A876-492F147BE13A}"/>
    <pc:docChg chg="modSld">
      <pc:chgData name="Praveen kumar SB" userId="c58843396e9a3c31" providerId="LiveId" clId="{87ED25A8-1540-45FB-A876-492F147BE13A}" dt="2026-10-15T13:57:54.946" v="0" actId="1076"/>
      <pc:docMkLst>
        <pc:docMk/>
      </pc:docMkLst>
      <pc:sldChg chg="modSp mod">
        <pc:chgData name="Praveen kumar SB" userId="c58843396e9a3c31" providerId="LiveId" clId="{87ED25A8-1540-45FB-A876-492F147BE13A}" dt="2026-10-15T13:57:54.946" v="0" actId="1076"/>
        <pc:sldMkLst>
          <pc:docMk/>
          <pc:sldMk cId="0" sldId="256"/>
        </pc:sldMkLst>
        <pc:spChg chg="mod">
          <ac:chgData name="Praveen kumar SB" userId="c58843396e9a3c31" providerId="LiveId" clId="{87ED25A8-1540-45FB-A876-492F147BE13A}" dt="2026-10-15T13:57:54.946" v="0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11095" y="1547769"/>
            <a:ext cx="11695306" cy="474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8"/>
              </a:lnSpc>
            </a:pPr>
            <a:r>
              <a:rPr lang="en-US" sz="12998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Airport Flight Board &amp; Scheduler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6325" y="6273133"/>
            <a:ext cx="9094305" cy="1607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2"/>
              </a:lnSpc>
              <a:spcBef>
                <a:spcPct val="0"/>
              </a:spcBef>
            </a:pPr>
            <a:r>
              <a:rPr lang="en-US" sz="3073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Presented by:</a:t>
            </a:r>
          </a:p>
          <a:p>
            <a:pPr algn="l">
              <a:lnSpc>
                <a:spcPts val="4302"/>
              </a:lnSpc>
              <a:spcBef>
                <a:spcPct val="0"/>
              </a:spcBef>
            </a:pPr>
            <a:r>
              <a:rPr lang="en-US" sz="3073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Aditiya 262003073</a:t>
            </a:r>
          </a:p>
          <a:p>
            <a:pPr algn="l">
              <a:lnSpc>
                <a:spcPts val="4302"/>
              </a:lnSpc>
              <a:spcBef>
                <a:spcPct val="0"/>
              </a:spcBef>
            </a:pPr>
            <a:r>
              <a:rPr lang="en-US" sz="3073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Praveen 2620080019</a:t>
            </a:r>
          </a:p>
        </p:txBody>
      </p:sp>
      <p:sp>
        <p:nvSpPr>
          <p:cNvPr id="5" name="Freeform 5"/>
          <p:cNvSpPr/>
          <p:nvPr/>
        </p:nvSpPr>
        <p:spPr>
          <a:xfrm rot="-1542318" flipV="1">
            <a:off x="13439854" y="102870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2347154"/>
            <a:ext cx="13851811" cy="6554679"/>
            <a:chOff x="0" y="0"/>
            <a:chExt cx="18469082" cy="8739572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8469082" cy="8739572"/>
              <a:chOff x="0" y="0"/>
              <a:chExt cx="3648214" cy="172633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648214" cy="1726335"/>
              </a:xfrm>
              <a:custGeom>
                <a:avLst/>
                <a:gdLst/>
                <a:ahLst/>
                <a:cxnLst/>
                <a:rect l="l" t="t" r="r" b="b"/>
                <a:pathLst>
                  <a:path w="3648214" h="1726335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1715157"/>
                    </a:lnTo>
                    <a:cubicBezTo>
                      <a:pt x="3648214" y="1721330"/>
                      <a:pt x="3643209" y="1726335"/>
                      <a:pt x="3637035" y="1726335"/>
                    </a:cubicBezTo>
                    <a:lnTo>
                      <a:pt x="11178" y="1726335"/>
                    </a:lnTo>
                    <a:cubicBezTo>
                      <a:pt x="5005" y="1726335"/>
                      <a:pt x="0" y="1721330"/>
                      <a:pt x="0" y="1715157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648214" cy="17644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82925" y="1141085"/>
              <a:ext cx="14095560" cy="163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Abstract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86830" y="3133956"/>
              <a:ext cx="12752761" cy="433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The Flight Tracker System is a Java-based console application used to manage and display flight information.</a:t>
              </a:r>
            </a:p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It allows users to view arrivals and departures, search for flights, check destinations, sort flight details, and view flight statistics.</a:t>
              </a:r>
            </a:p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The main aim of this project is to make flight information easy to access through a simple menu-driven program.</a:t>
              </a:r>
            </a:p>
            <a:p>
              <a:pPr marL="0" lvl="0" indent="0" algn="l">
                <a:lnSpc>
                  <a:spcPts val="2699"/>
                </a:lnSpc>
                <a:spcBef>
                  <a:spcPct val="0"/>
                </a:spcBef>
              </a:pPr>
              <a:endParaRPr lang="en-US" sz="2499" spc="14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55667" y="542620"/>
            <a:ext cx="12652595" cy="9342452"/>
            <a:chOff x="0" y="0"/>
            <a:chExt cx="16870126" cy="12456602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6870126" cy="12456602"/>
              <a:chOff x="0" y="0"/>
              <a:chExt cx="3593121" cy="265309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593121" cy="2653097"/>
              </a:xfrm>
              <a:custGeom>
                <a:avLst/>
                <a:gdLst/>
                <a:ahLst/>
                <a:cxnLst/>
                <a:rect l="l" t="t" r="r" b="b"/>
                <a:pathLst>
                  <a:path w="3593121" h="2653097">
                    <a:moveTo>
                      <a:pt x="11350" y="0"/>
                    </a:moveTo>
                    <a:lnTo>
                      <a:pt x="3581772" y="0"/>
                    </a:lnTo>
                    <a:cubicBezTo>
                      <a:pt x="3584782" y="0"/>
                      <a:pt x="3587669" y="1196"/>
                      <a:pt x="3589797" y="3324"/>
                    </a:cubicBezTo>
                    <a:cubicBezTo>
                      <a:pt x="3591926" y="5453"/>
                      <a:pt x="3593121" y="8339"/>
                      <a:pt x="3593121" y="11350"/>
                    </a:cubicBezTo>
                    <a:lnTo>
                      <a:pt x="3593121" y="2641748"/>
                    </a:lnTo>
                    <a:cubicBezTo>
                      <a:pt x="3593121" y="2644758"/>
                      <a:pt x="3591926" y="2647644"/>
                      <a:pt x="3589797" y="2649773"/>
                    </a:cubicBezTo>
                    <a:cubicBezTo>
                      <a:pt x="3587669" y="2651902"/>
                      <a:pt x="3584782" y="2653097"/>
                      <a:pt x="3581772" y="2653097"/>
                    </a:cubicBezTo>
                    <a:lnTo>
                      <a:pt x="11350" y="2653097"/>
                    </a:lnTo>
                    <a:cubicBezTo>
                      <a:pt x="8339" y="2653097"/>
                      <a:pt x="5453" y="2651902"/>
                      <a:pt x="3324" y="2649773"/>
                    </a:cubicBezTo>
                    <a:cubicBezTo>
                      <a:pt x="1196" y="2647644"/>
                      <a:pt x="0" y="2644758"/>
                      <a:pt x="0" y="2641748"/>
                    </a:cubicBezTo>
                    <a:lnTo>
                      <a:pt x="0" y="11350"/>
                    </a:lnTo>
                    <a:cubicBezTo>
                      <a:pt x="0" y="8339"/>
                      <a:pt x="1196" y="5453"/>
                      <a:pt x="3324" y="3324"/>
                    </a:cubicBezTo>
                    <a:cubicBezTo>
                      <a:pt x="5453" y="1196"/>
                      <a:pt x="8339" y="0"/>
                      <a:pt x="11350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593121" cy="26911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095764" y="2120413"/>
              <a:ext cx="14119826" cy="25533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97"/>
                </a:lnSpc>
              </a:pPr>
              <a:r>
                <a:rPr lang="en-US" sz="7419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Understanding the Problem Statement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13339" y="4841355"/>
              <a:ext cx="11827300" cy="693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6"/>
                </a:lnSpc>
              </a:pPr>
              <a:r>
                <a:rPr lang="en-US" sz="1952" spc="11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Problem Statement:</a:t>
              </a:r>
            </a:p>
            <a:p>
              <a:pPr algn="l">
                <a:lnSpc>
                  <a:spcPts val="2636"/>
                </a:lnSpc>
              </a:pPr>
              <a:endParaRPr lang="en-US" sz="1952" spc="11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algn="l">
                <a:lnSpc>
                  <a:spcPts val="2636"/>
                </a:lnSpc>
              </a:pPr>
              <a:r>
                <a:rPr lang="en-US" sz="1952" spc="11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Managing flight information manually can be difficult and time-consuming.</a:t>
              </a:r>
            </a:p>
            <a:p>
              <a:pPr algn="l">
                <a:lnSpc>
                  <a:spcPts val="2636"/>
                </a:lnSpc>
              </a:pPr>
              <a:endParaRPr lang="en-US" sz="1952" spc="11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algn="l">
                <a:lnSpc>
                  <a:spcPts val="2636"/>
                </a:lnSpc>
              </a:pPr>
              <a:r>
                <a:rPr lang="en-US" sz="1952" spc="11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Our Solution:</a:t>
              </a:r>
            </a:p>
            <a:p>
              <a:pPr marL="421596" lvl="1" indent="-210798" algn="l">
                <a:lnSpc>
                  <a:spcPts val="2636"/>
                </a:lnSpc>
                <a:buFont typeface="Arial"/>
                <a:buChar char="•"/>
              </a:pPr>
              <a:r>
                <a:rPr lang="en-US" sz="1952" spc="11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Display flight arrivals and departures.</a:t>
              </a:r>
            </a:p>
            <a:p>
              <a:pPr marL="421596" lvl="1" indent="-210798" algn="l">
                <a:lnSpc>
                  <a:spcPts val="2636"/>
                </a:lnSpc>
                <a:buFont typeface="Arial"/>
                <a:buChar char="•"/>
              </a:pPr>
              <a:r>
                <a:rPr lang="en-US" sz="1952" spc="11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Search flights using flight details.</a:t>
              </a:r>
            </a:p>
            <a:p>
              <a:pPr marL="421596" lvl="1" indent="-210798" algn="l">
                <a:lnSpc>
                  <a:spcPts val="2636"/>
                </a:lnSpc>
                <a:buFont typeface="Arial"/>
                <a:buChar char="•"/>
              </a:pPr>
              <a:r>
                <a:rPr lang="en-US" sz="1952" spc="11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View available destinations.</a:t>
              </a:r>
            </a:p>
            <a:p>
              <a:pPr marL="421596" lvl="1" indent="-210798" algn="l">
                <a:lnSpc>
                  <a:spcPts val="2636"/>
                </a:lnSpc>
                <a:buFont typeface="Arial"/>
                <a:buChar char="•"/>
              </a:pPr>
              <a:r>
                <a:rPr lang="en-US" sz="1952" spc="11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Sort flight information.</a:t>
              </a:r>
            </a:p>
            <a:p>
              <a:pPr marL="421596" lvl="1" indent="-210798" algn="l">
                <a:lnSpc>
                  <a:spcPts val="2636"/>
                </a:lnSpc>
                <a:buFont typeface="Arial"/>
                <a:buChar char="•"/>
              </a:pPr>
              <a:r>
                <a:rPr lang="en-US" sz="1952" spc="11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Display flight status statistics.</a:t>
              </a:r>
            </a:p>
            <a:p>
              <a:pPr marL="421596" lvl="1" indent="-210798" algn="l">
                <a:lnSpc>
                  <a:spcPts val="2636"/>
                </a:lnSpc>
                <a:buFont typeface="Arial"/>
                <a:buChar char="•"/>
              </a:pPr>
              <a:r>
                <a:rPr lang="en-US" sz="1952" spc="11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Save flight details to a text file.</a:t>
              </a:r>
            </a:p>
            <a:p>
              <a:pPr algn="l">
                <a:lnSpc>
                  <a:spcPts val="2636"/>
                </a:lnSpc>
              </a:pPr>
              <a:endParaRPr lang="en-US" sz="1952" spc="11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algn="l">
                <a:lnSpc>
                  <a:spcPts val="2636"/>
                </a:lnSpc>
              </a:pPr>
              <a:r>
                <a:rPr lang="en-US" sz="1952" spc="11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Objective: To develop a simple and user-friendly flight information management system using Java.</a:t>
              </a:r>
            </a:p>
            <a:p>
              <a:pPr marL="0" lvl="0" indent="0" algn="l">
                <a:lnSpc>
                  <a:spcPts val="2504"/>
                </a:lnSpc>
                <a:spcBef>
                  <a:spcPct val="0"/>
                </a:spcBef>
              </a:pPr>
              <a:endParaRPr lang="en-US" sz="1952" spc="11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80948" y="1800239"/>
            <a:ext cx="13851811" cy="7600817"/>
            <a:chOff x="0" y="0"/>
            <a:chExt cx="18469082" cy="10134422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8469082" cy="10134422"/>
              <a:chOff x="0" y="0"/>
              <a:chExt cx="3648214" cy="200186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648214" cy="2001861"/>
              </a:xfrm>
              <a:custGeom>
                <a:avLst/>
                <a:gdLst/>
                <a:ahLst/>
                <a:cxnLst/>
                <a:rect l="l" t="t" r="r" b="b"/>
                <a:pathLst>
                  <a:path w="3648214" h="2001861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1990683"/>
                    </a:lnTo>
                    <a:cubicBezTo>
                      <a:pt x="3648214" y="1996856"/>
                      <a:pt x="3643209" y="2001861"/>
                      <a:pt x="3637035" y="2001861"/>
                    </a:cubicBezTo>
                    <a:lnTo>
                      <a:pt x="11178" y="2001861"/>
                    </a:lnTo>
                    <a:cubicBezTo>
                      <a:pt x="5005" y="2001861"/>
                      <a:pt x="0" y="1996856"/>
                      <a:pt x="0" y="1990683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648214" cy="20399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82925" y="963395"/>
              <a:ext cx="15921357" cy="1563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342"/>
                </a:lnSpc>
              </a:pPr>
              <a:r>
                <a:rPr lang="en-US" sz="86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Topics Used in CO1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925" y="3088430"/>
              <a:ext cx="12752761" cy="5104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Java Fundamentals</a:t>
              </a:r>
            </a:p>
            <a:p>
              <a:pPr marL="496567" lvl="1" indent="-248284" algn="l">
                <a:lnSpc>
                  <a:spcPts val="3104"/>
                </a:lnSpc>
                <a:buFont typeface="Arial"/>
                <a:buChar char="•"/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Variables and data types</a:t>
              </a:r>
            </a:p>
            <a:p>
              <a:pPr marL="496567" lvl="1" indent="-248284" algn="l">
                <a:lnSpc>
                  <a:spcPts val="3104"/>
                </a:lnSpc>
                <a:buFont typeface="Arial"/>
                <a:buChar char="•"/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Input using Scanner</a:t>
              </a:r>
            </a:p>
            <a:p>
              <a:pPr marL="496567" lvl="1" indent="-248284" algn="l">
                <a:lnSpc>
                  <a:spcPts val="3104"/>
                </a:lnSpc>
                <a:buFont typeface="Arial"/>
                <a:buChar char="•"/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Output using print and println</a:t>
              </a:r>
            </a:p>
            <a:p>
              <a:pPr marL="496567" lvl="1" indent="-248284" algn="l">
                <a:lnSpc>
                  <a:spcPts val="3104"/>
                </a:lnSpc>
                <a:buFont typeface="Arial"/>
                <a:buChar char="•"/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Basic operators</a:t>
              </a:r>
            </a:p>
            <a:p>
              <a:pPr marL="496567" lvl="1" indent="-248284" algn="l">
                <a:lnSpc>
                  <a:spcPts val="3104"/>
                </a:lnSpc>
                <a:buFont typeface="Arial"/>
                <a:buChar char="•"/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Storing flight information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Application in Our Project: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These concepts are used to store flight details and display information to the user.</a:t>
              </a:r>
            </a:p>
            <a:p>
              <a:pPr marL="0" lvl="0" indent="0" algn="l">
                <a:lnSpc>
                  <a:spcPts val="2699"/>
                </a:lnSpc>
                <a:spcBef>
                  <a:spcPct val="0"/>
                </a:spcBef>
              </a:pPr>
              <a:endParaRPr lang="en-US" sz="2299" spc="13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415974" y="7523175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53019" y="1675028"/>
            <a:ext cx="13851811" cy="6936943"/>
            <a:chOff x="0" y="0"/>
            <a:chExt cx="18469082" cy="9249257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8469082" cy="9249257"/>
              <a:chOff x="0" y="0"/>
              <a:chExt cx="3648214" cy="182701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648214" cy="1827014"/>
              </a:xfrm>
              <a:custGeom>
                <a:avLst/>
                <a:gdLst/>
                <a:ahLst/>
                <a:cxnLst/>
                <a:rect l="l" t="t" r="r" b="b"/>
                <a:pathLst>
                  <a:path w="3648214" h="1827014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1815836"/>
                    </a:lnTo>
                    <a:cubicBezTo>
                      <a:pt x="3648214" y="1822009"/>
                      <a:pt x="3643209" y="1827014"/>
                      <a:pt x="3637035" y="1827014"/>
                    </a:cubicBezTo>
                    <a:lnTo>
                      <a:pt x="11178" y="1827014"/>
                    </a:lnTo>
                    <a:cubicBezTo>
                      <a:pt x="5005" y="1827014"/>
                      <a:pt x="0" y="1822009"/>
                      <a:pt x="0" y="1815836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648214" cy="18651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018665" y="1203631"/>
              <a:ext cx="16089522" cy="1563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342"/>
                </a:lnSpc>
              </a:pPr>
              <a:r>
                <a:rPr lang="en-US" sz="86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Topics Used in CO2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8665" y="2992336"/>
              <a:ext cx="13761754" cy="487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69"/>
                </a:lnSpc>
              </a:pPr>
              <a:r>
                <a:rPr lang="en-US" sz="2199" spc="13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Control Statements</a:t>
              </a:r>
            </a:p>
            <a:p>
              <a:pPr marL="474978" lvl="1" indent="-237489" algn="l">
                <a:lnSpc>
                  <a:spcPts val="2969"/>
                </a:lnSpc>
                <a:buFont typeface="Arial"/>
                <a:buChar char="•"/>
              </a:pPr>
              <a:r>
                <a:rPr lang="en-US" sz="2199" spc="13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If-else statements</a:t>
              </a:r>
            </a:p>
            <a:p>
              <a:pPr marL="474978" lvl="1" indent="-237489" algn="l">
                <a:lnSpc>
                  <a:spcPts val="2969"/>
                </a:lnSpc>
                <a:buFont typeface="Arial"/>
                <a:buChar char="•"/>
              </a:pPr>
              <a:r>
                <a:rPr lang="en-US" sz="2199" spc="13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Switch statements</a:t>
              </a:r>
            </a:p>
            <a:p>
              <a:pPr marL="474978" lvl="1" indent="-237489" algn="l">
                <a:lnSpc>
                  <a:spcPts val="2969"/>
                </a:lnSpc>
                <a:buFont typeface="Arial"/>
                <a:buChar char="•"/>
              </a:pPr>
              <a:r>
                <a:rPr lang="en-US" sz="2199" spc="13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For and while loops</a:t>
              </a:r>
            </a:p>
            <a:p>
              <a:pPr marL="474978" lvl="1" indent="-237489" algn="l">
                <a:lnSpc>
                  <a:spcPts val="2969"/>
                </a:lnSpc>
                <a:buFont typeface="Arial"/>
                <a:buChar char="•"/>
              </a:pPr>
              <a:r>
                <a:rPr lang="en-US" sz="2199" spc="13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Menu-driven programming</a:t>
              </a:r>
            </a:p>
            <a:p>
              <a:pPr marL="474978" lvl="1" indent="-237489" algn="l">
                <a:lnSpc>
                  <a:spcPts val="2969"/>
                </a:lnSpc>
                <a:buFont typeface="Arial"/>
                <a:buChar char="•"/>
              </a:pPr>
              <a:r>
                <a:rPr lang="en-US" sz="2199" spc="13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Conditional checking</a:t>
              </a:r>
            </a:p>
            <a:p>
              <a:pPr algn="l">
                <a:lnSpc>
                  <a:spcPts val="2969"/>
                </a:lnSpc>
              </a:pPr>
              <a:r>
                <a:rPr lang="en-US" sz="2199" spc="13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Application in Our Project:</a:t>
              </a:r>
            </a:p>
            <a:p>
              <a:pPr algn="l">
                <a:lnSpc>
                  <a:spcPts val="2969"/>
                </a:lnSpc>
              </a:pPr>
              <a:r>
                <a:rPr lang="en-US" sz="2199" spc="13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Control statements help users select menu options and display flights based on their status, such as Arrived, Delayed, Boarding, or Scheduled.</a:t>
              </a:r>
            </a:p>
            <a:p>
              <a:pPr marL="0" lvl="0" indent="0" algn="l">
                <a:lnSpc>
                  <a:spcPts val="2699"/>
                </a:lnSpc>
                <a:spcBef>
                  <a:spcPct val="0"/>
                </a:spcBef>
              </a:pPr>
              <a:endParaRPr lang="en-US" sz="2199" spc="131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3100648" y="7342997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839176"/>
            <a:ext cx="13851811" cy="8715650"/>
            <a:chOff x="0" y="0"/>
            <a:chExt cx="18469082" cy="11620867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8469082" cy="11620867"/>
              <a:chOff x="0" y="0"/>
              <a:chExt cx="3648214" cy="22954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648214" cy="2295480"/>
              </a:xfrm>
              <a:custGeom>
                <a:avLst/>
                <a:gdLst/>
                <a:ahLst/>
                <a:cxnLst/>
                <a:rect l="l" t="t" r="r" b="b"/>
                <a:pathLst>
                  <a:path w="3648214" h="2295480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2284302"/>
                    </a:lnTo>
                    <a:cubicBezTo>
                      <a:pt x="3648214" y="2290475"/>
                      <a:pt x="3643209" y="2295480"/>
                      <a:pt x="3637035" y="2295480"/>
                    </a:cubicBezTo>
                    <a:lnTo>
                      <a:pt x="11178" y="2295480"/>
                    </a:lnTo>
                    <a:cubicBezTo>
                      <a:pt x="5005" y="2295480"/>
                      <a:pt x="0" y="2290475"/>
                      <a:pt x="0" y="2284302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648214" cy="23335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82925" y="1812387"/>
              <a:ext cx="15585026" cy="1563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342"/>
                </a:lnSpc>
              </a:pPr>
              <a:r>
                <a:rPr lang="en-US" sz="86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Topics used in CO3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925" y="4353988"/>
              <a:ext cx="12752761" cy="5878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39"/>
                </a:lnSpc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Methods, Arrays and Searching</a:t>
              </a:r>
            </a:p>
            <a:p>
              <a:pPr marL="518157" lvl="1" indent="-259078" algn="l">
                <a:lnSpc>
                  <a:spcPts val="3239"/>
                </a:lnSpc>
                <a:buFont typeface="Arial"/>
                <a:buChar char="•"/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Creating and calling methods</a:t>
              </a:r>
            </a:p>
            <a:p>
              <a:pPr marL="518157" lvl="1" indent="-259078" algn="l">
                <a:lnSpc>
                  <a:spcPts val="3239"/>
                </a:lnSpc>
                <a:buFont typeface="Arial"/>
                <a:buChar char="•"/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Storing multiple flight records</a:t>
              </a:r>
            </a:p>
            <a:p>
              <a:pPr marL="518157" lvl="1" indent="-259078" algn="l">
                <a:lnSpc>
                  <a:spcPts val="3239"/>
                </a:lnSpc>
                <a:buFont typeface="Arial"/>
                <a:buChar char="•"/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Searching for a particular flight</a:t>
              </a:r>
            </a:p>
            <a:p>
              <a:pPr marL="518157" lvl="1" indent="-259078" algn="l">
                <a:lnSpc>
                  <a:spcPts val="3239"/>
                </a:lnSpc>
                <a:buFont typeface="Arial"/>
                <a:buChar char="•"/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Displaying flight information</a:t>
              </a:r>
            </a:p>
            <a:p>
              <a:pPr marL="518157" lvl="1" indent="-259078" algn="l">
                <a:lnSpc>
                  <a:spcPts val="3239"/>
                </a:lnSpc>
                <a:buFont typeface="Arial"/>
                <a:buChar char="•"/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Reusing code through methods</a:t>
              </a:r>
            </a:p>
            <a:p>
              <a:pPr algn="l">
                <a:lnSpc>
                  <a:spcPts val="3239"/>
                </a:lnSpc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Application in Our Project:</a:t>
              </a:r>
            </a:p>
            <a:p>
              <a:pPr algn="l">
                <a:lnSpc>
                  <a:spcPts val="3239"/>
                </a:lnSpc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Methods organize the program into smaller parts, while arrays store flight records and searching helps users find specific flights.</a:t>
              </a:r>
            </a:p>
            <a:p>
              <a:pPr marL="0" lvl="0" indent="0" algn="l">
                <a:lnSpc>
                  <a:spcPts val="2699"/>
                </a:lnSpc>
                <a:spcBef>
                  <a:spcPct val="0"/>
                </a:spcBef>
              </a:pPr>
              <a:endParaRPr lang="en-US" sz="2399" spc="14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830151"/>
            <a:ext cx="13851811" cy="8071845"/>
            <a:chOff x="0" y="0"/>
            <a:chExt cx="18469082" cy="1076245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8469082" cy="10762459"/>
              <a:chOff x="0" y="0"/>
              <a:chExt cx="3648214" cy="212591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648214" cy="2125918"/>
              </a:xfrm>
              <a:custGeom>
                <a:avLst/>
                <a:gdLst/>
                <a:ahLst/>
                <a:cxnLst/>
                <a:rect l="l" t="t" r="r" b="b"/>
                <a:pathLst>
                  <a:path w="3648214" h="2125918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2114740"/>
                    </a:lnTo>
                    <a:cubicBezTo>
                      <a:pt x="3648214" y="2120913"/>
                      <a:pt x="3643209" y="2125918"/>
                      <a:pt x="3637035" y="2125918"/>
                    </a:cubicBezTo>
                    <a:lnTo>
                      <a:pt x="11178" y="2125918"/>
                    </a:lnTo>
                    <a:cubicBezTo>
                      <a:pt x="5005" y="2125918"/>
                      <a:pt x="0" y="2120913"/>
                      <a:pt x="0" y="2114740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648214" cy="21640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82925" y="1860434"/>
              <a:ext cx="16257688" cy="1563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342"/>
                </a:lnSpc>
              </a:pPr>
              <a:r>
                <a:rPr lang="en-US" sz="86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Topics used in CO 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925" y="4378012"/>
              <a:ext cx="12752761" cy="5332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39"/>
                </a:lnSpc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Object-Oriented Programming</a:t>
              </a:r>
            </a:p>
            <a:p>
              <a:pPr marL="518157" lvl="1" indent="-259078" algn="l">
                <a:lnSpc>
                  <a:spcPts val="3239"/>
                </a:lnSpc>
                <a:buFont typeface="Arial"/>
                <a:buChar char="•"/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Classes and objects</a:t>
              </a:r>
            </a:p>
            <a:p>
              <a:pPr marL="518157" lvl="1" indent="-259078" algn="l">
                <a:lnSpc>
                  <a:spcPts val="3239"/>
                </a:lnSpc>
                <a:buFont typeface="Arial"/>
                <a:buChar char="•"/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Constructors</a:t>
              </a:r>
            </a:p>
            <a:p>
              <a:pPr marL="518157" lvl="1" indent="-259078" algn="l">
                <a:lnSpc>
                  <a:spcPts val="3239"/>
                </a:lnSpc>
                <a:buFont typeface="Arial"/>
                <a:buChar char="•"/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Encapsulation</a:t>
              </a:r>
            </a:p>
            <a:p>
              <a:pPr marL="518157" lvl="1" indent="-259078" algn="l">
                <a:lnSpc>
                  <a:spcPts val="3239"/>
                </a:lnSpc>
                <a:buFont typeface="Arial"/>
                <a:buChar char="•"/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Exception handling</a:t>
              </a:r>
            </a:p>
            <a:p>
              <a:pPr algn="l">
                <a:lnSpc>
                  <a:spcPts val="3239"/>
                </a:lnSpc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Application in Our Project:</a:t>
              </a:r>
            </a:p>
            <a:p>
              <a:pPr algn="l">
                <a:lnSpc>
                  <a:spcPts val="3239"/>
                </a:lnSpc>
              </a:pPr>
              <a:r>
                <a:rPr lang="en-US" sz="2399" spc="143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Object-oriented concepts help organize flight information into structured objects. Constructors initialize data, and exception handling helps manage unexpected errors.</a:t>
              </a:r>
            </a:p>
            <a:p>
              <a:pPr marL="0" lvl="0" indent="0" algn="l">
                <a:lnSpc>
                  <a:spcPts val="2699"/>
                </a:lnSpc>
                <a:spcBef>
                  <a:spcPct val="0"/>
                </a:spcBef>
              </a:pPr>
              <a:endParaRPr lang="en-US" sz="2399" spc="14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90860" y="1924727"/>
            <a:ext cx="13851811" cy="7333573"/>
            <a:chOff x="0" y="0"/>
            <a:chExt cx="18469082" cy="9778097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8469082" cy="9778097"/>
              <a:chOff x="0" y="0"/>
              <a:chExt cx="3648214" cy="193147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648214" cy="1931476"/>
              </a:xfrm>
              <a:custGeom>
                <a:avLst/>
                <a:gdLst/>
                <a:ahLst/>
                <a:cxnLst/>
                <a:rect l="l" t="t" r="r" b="b"/>
                <a:pathLst>
                  <a:path w="3648214" h="1931476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1920298"/>
                    </a:lnTo>
                    <a:cubicBezTo>
                      <a:pt x="3648214" y="1926471"/>
                      <a:pt x="3643209" y="1931476"/>
                      <a:pt x="3637035" y="1931476"/>
                    </a:cubicBezTo>
                    <a:lnTo>
                      <a:pt x="11178" y="1931476"/>
                    </a:lnTo>
                    <a:cubicBezTo>
                      <a:pt x="5005" y="1931476"/>
                      <a:pt x="0" y="1926471"/>
                      <a:pt x="0" y="1920298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648214" cy="19695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82925" y="1131560"/>
              <a:ext cx="15464908" cy="1563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342"/>
                </a:lnSpc>
              </a:pPr>
              <a:r>
                <a:rPr lang="en-US" sz="86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Topics used in CO5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925" y="2910740"/>
              <a:ext cx="12752761" cy="5454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Strings, Sorting and File Handling</a:t>
              </a:r>
            </a:p>
            <a:p>
              <a:pPr marL="539746" lvl="1" indent="-269873" algn="l">
                <a:lnSpc>
                  <a:spcPts val="3374"/>
                </a:lnSpc>
                <a:buFont typeface="Arial"/>
                <a:buChar char="•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String operations</a:t>
              </a:r>
            </a:p>
            <a:p>
              <a:pPr marL="539746" lvl="1" indent="-269873" algn="l">
                <a:lnSpc>
                  <a:spcPts val="3374"/>
                </a:lnSpc>
                <a:buFont typeface="Arial"/>
                <a:buChar char="•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Sorting flight details</a:t>
              </a:r>
            </a:p>
            <a:p>
              <a:pPr marL="539746" lvl="1" indent="-269873" algn="l">
                <a:lnSpc>
                  <a:spcPts val="3374"/>
                </a:lnSpc>
                <a:buFont typeface="Arial"/>
                <a:buChar char="•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File creation and writing</a:t>
              </a:r>
            </a:p>
            <a:p>
              <a:pPr marL="539746" lvl="1" indent="-269873" algn="l">
                <a:lnSpc>
                  <a:spcPts val="3374"/>
                </a:lnSpc>
                <a:buFont typeface="Arial"/>
                <a:buChar char="•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Saving information in a text file</a:t>
              </a:r>
            </a:p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Application in Our Project:</a:t>
              </a:r>
            </a:p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String operations help process flight names and details. Sorting organizes flight information, and file handling saves flight records in flights.txt.</a:t>
              </a:r>
            </a:p>
            <a:p>
              <a:pPr marL="0" lvl="0" indent="0" algn="l">
                <a:lnSpc>
                  <a:spcPts val="2699"/>
                </a:lnSpc>
                <a:spcBef>
                  <a:spcPct val="0"/>
                </a:spcBef>
              </a:pPr>
              <a:endParaRPr lang="en-US" sz="2499" spc="14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34" b="-9084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35001" y="1067538"/>
            <a:ext cx="13851811" cy="8151925"/>
            <a:chOff x="0" y="0"/>
            <a:chExt cx="18469082" cy="1086923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8469082" cy="10869233"/>
              <a:chOff x="0" y="0"/>
              <a:chExt cx="3648214" cy="214700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648214" cy="2147009"/>
              </a:xfrm>
              <a:custGeom>
                <a:avLst/>
                <a:gdLst/>
                <a:ahLst/>
                <a:cxnLst/>
                <a:rect l="l" t="t" r="r" b="b"/>
                <a:pathLst>
                  <a:path w="3648214" h="2147009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2135831"/>
                    </a:lnTo>
                    <a:cubicBezTo>
                      <a:pt x="3648214" y="2142004"/>
                      <a:pt x="3643209" y="2147009"/>
                      <a:pt x="3637035" y="2147009"/>
                    </a:cubicBezTo>
                    <a:lnTo>
                      <a:pt x="11178" y="2147009"/>
                    </a:lnTo>
                    <a:cubicBezTo>
                      <a:pt x="5005" y="2147009"/>
                      <a:pt x="0" y="2142004"/>
                      <a:pt x="0" y="2135831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648214" cy="21851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82925" y="2076647"/>
              <a:ext cx="16113546" cy="1563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342"/>
                </a:lnSpc>
              </a:pPr>
              <a:r>
                <a:rPr lang="en-US" sz="86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Topics used in CO6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925" y="4584700"/>
              <a:ext cx="12752761" cy="4895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Collections, Lambda and Streams</a:t>
              </a:r>
            </a:p>
            <a:p>
              <a:pPr marL="539746" lvl="1" indent="-269873" algn="l">
                <a:lnSpc>
                  <a:spcPts val="3374"/>
                </a:lnSpc>
                <a:buFont typeface="Arial"/>
                <a:buChar char="•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Java collections</a:t>
              </a:r>
            </a:p>
            <a:p>
              <a:pPr marL="539746" lvl="1" indent="-269873" algn="l">
                <a:lnSpc>
                  <a:spcPts val="3374"/>
                </a:lnSpc>
                <a:buFont typeface="Arial"/>
                <a:buChar char="•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Lambda expressions</a:t>
              </a:r>
            </a:p>
            <a:p>
              <a:pPr marL="539746" lvl="1" indent="-269873" algn="l">
                <a:lnSpc>
                  <a:spcPts val="3374"/>
                </a:lnSpc>
                <a:buFont typeface="Arial"/>
                <a:buChar char="•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Stream operations</a:t>
              </a:r>
            </a:p>
            <a:p>
              <a:pPr marL="539746" lvl="1" indent="-269873" algn="l">
                <a:lnSpc>
                  <a:spcPts val="3374"/>
                </a:lnSpc>
                <a:buFont typeface="Arial"/>
                <a:buChar char="•"/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Filtering and processing data</a:t>
              </a:r>
            </a:p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Application in Our Project:</a:t>
              </a:r>
            </a:p>
            <a:p>
              <a:pPr algn="l">
                <a:lnSpc>
                  <a:spcPts val="3374"/>
                </a:lnSpc>
              </a:pPr>
              <a:r>
                <a:rPr lang="en-US" sz="2499" spc="14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These concepts help process and filter flight information efficiently and make the program more organized.</a:t>
              </a:r>
            </a:p>
            <a:p>
              <a:pPr marL="0" lvl="0" indent="0" algn="l">
                <a:lnSpc>
                  <a:spcPts val="2699"/>
                </a:lnSpc>
                <a:spcBef>
                  <a:spcPct val="0"/>
                </a:spcBef>
              </a:pPr>
              <a:endParaRPr lang="en-US" sz="2499" spc="14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00771" y="1038272"/>
            <a:ext cx="12770485" cy="7225428"/>
            <a:chOff x="0" y="0"/>
            <a:chExt cx="17027313" cy="963390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7027313" cy="9633904"/>
              <a:chOff x="0" y="0"/>
              <a:chExt cx="3363420" cy="190299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363420" cy="1902993"/>
              </a:xfrm>
              <a:custGeom>
                <a:avLst/>
                <a:gdLst/>
                <a:ahLst/>
                <a:cxnLst/>
                <a:rect l="l" t="t" r="r" b="b"/>
                <a:pathLst>
                  <a:path w="3363420" h="1902993">
                    <a:moveTo>
                      <a:pt x="12125" y="0"/>
                    </a:moveTo>
                    <a:lnTo>
                      <a:pt x="3351295" y="0"/>
                    </a:lnTo>
                    <a:cubicBezTo>
                      <a:pt x="3354511" y="0"/>
                      <a:pt x="3357595" y="1277"/>
                      <a:pt x="3359869" y="3551"/>
                    </a:cubicBezTo>
                    <a:cubicBezTo>
                      <a:pt x="3362142" y="5825"/>
                      <a:pt x="3363420" y="8909"/>
                      <a:pt x="3363420" y="12125"/>
                    </a:cubicBezTo>
                    <a:lnTo>
                      <a:pt x="3363420" y="1890869"/>
                    </a:lnTo>
                    <a:cubicBezTo>
                      <a:pt x="3363420" y="1894084"/>
                      <a:pt x="3362142" y="1897168"/>
                      <a:pt x="3359869" y="1899442"/>
                    </a:cubicBezTo>
                    <a:cubicBezTo>
                      <a:pt x="3357595" y="1901716"/>
                      <a:pt x="3354511" y="1902993"/>
                      <a:pt x="3351295" y="1902993"/>
                    </a:cubicBezTo>
                    <a:lnTo>
                      <a:pt x="12125" y="1902993"/>
                    </a:lnTo>
                    <a:cubicBezTo>
                      <a:pt x="8909" y="1902993"/>
                      <a:pt x="5825" y="1901716"/>
                      <a:pt x="3551" y="1899442"/>
                    </a:cubicBezTo>
                    <a:cubicBezTo>
                      <a:pt x="1277" y="1897168"/>
                      <a:pt x="0" y="1894084"/>
                      <a:pt x="0" y="1890869"/>
                    </a:cubicBezTo>
                    <a:lnTo>
                      <a:pt x="0" y="12125"/>
                    </a:lnTo>
                    <a:cubicBezTo>
                      <a:pt x="0" y="8909"/>
                      <a:pt x="1277" y="5825"/>
                      <a:pt x="3551" y="3551"/>
                    </a:cubicBezTo>
                    <a:cubicBezTo>
                      <a:pt x="5825" y="1277"/>
                      <a:pt x="8909" y="0"/>
                      <a:pt x="12125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3363420" cy="19410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485588" y="1364299"/>
              <a:ext cx="14056138" cy="163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Conclusion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43293" y="3347404"/>
              <a:ext cx="12761450" cy="5028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The Flight Tracker System demonstrates how Java programming concepts can be used to develop a practical application.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The project provides features for viewing arrivals and departures, searching flights, sorting records, saving information, and displaying statistics.</a:t>
              </a:r>
            </a:p>
            <a:p>
              <a:pPr algn="l">
                <a:lnSpc>
                  <a:spcPts val="3104"/>
                </a:lnSpc>
              </a:pPr>
              <a:r>
                <a:rPr lang="en-US" sz="2299" spc="13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Through this project, we gained practical knowledge of Java fundamentals, control statements, methods, object-oriented programming, and file handling.</a:t>
              </a:r>
            </a:p>
            <a:p>
              <a:pPr marL="0" lvl="0" indent="0" algn="l">
                <a:lnSpc>
                  <a:spcPts val="2699"/>
                </a:lnSpc>
                <a:spcBef>
                  <a:spcPct val="0"/>
                </a:spcBef>
              </a:pPr>
              <a:endParaRPr lang="en-US" sz="2299" spc="13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marL="0" lvl="0" indent="0" algn="l">
                <a:lnSpc>
                  <a:spcPts val="2699"/>
                </a:lnSpc>
                <a:spcBef>
                  <a:spcPct val="0"/>
                </a:spcBef>
              </a:pPr>
              <a:endParaRPr lang="en-US" sz="2299" spc="13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5805593" y="8810090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542318" flipV="1">
            <a:off x="11968542" y="-103561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30837" y="769080"/>
            <a:ext cx="13043373" cy="9292061"/>
            <a:chOff x="0" y="0"/>
            <a:chExt cx="17391164" cy="1238941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7391164" cy="12389414"/>
              <a:chOff x="0" y="0"/>
              <a:chExt cx="3705159" cy="263954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705159" cy="2639544"/>
              </a:xfrm>
              <a:custGeom>
                <a:avLst/>
                <a:gdLst/>
                <a:ahLst/>
                <a:cxnLst/>
                <a:rect l="l" t="t" r="r" b="b"/>
                <a:pathLst>
                  <a:path w="3705159" h="2639544">
                    <a:moveTo>
                      <a:pt x="11006" y="0"/>
                    </a:moveTo>
                    <a:lnTo>
                      <a:pt x="3694152" y="0"/>
                    </a:lnTo>
                    <a:cubicBezTo>
                      <a:pt x="3700231" y="0"/>
                      <a:pt x="3705159" y="4928"/>
                      <a:pt x="3705159" y="11006"/>
                    </a:cubicBezTo>
                    <a:lnTo>
                      <a:pt x="3705159" y="2628538"/>
                    </a:lnTo>
                    <a:cubicBezTo>
                      <a:pt x="3705159" y="2631457"/>
                      <a:pt x="3703999" y="2634256"/>
                      <a:pt x="3701935" y="2636320"/>
                    </a:cubicBezTo>
                    <a:cubicBezTo>
                      <a:pt x="3699871" y="2638384"/>
                      <a:pt x="3697071" y="2639544"/>
                      <a:pt x="3694152" y="2639544"/>
                    </a:cubicBezTo>
                    <a:lnTo>
                      <a:pt x="11006" y="2639544"/>
                    </a:lnTo>
                    <a:cubicBezTo>
                      <a:pt x="8087" y="2639544"/>
                      <a:pt x="5288" y="2638384"/>
                      <a:pt x="3224" y="2636320"/>
                    </a:cubicBezTo>
                    <a:cubicBezTo>
                      <a:pt x="1160" y="2634256"/>
                      <a:pt x="0" y="2631457"/>
                      <a:pt x="0" y="2628538"/>
                    </a:cubicBezTo>
                    <a:lnTo>
                      <a:pt x="0" y="11006"/>
                    </a:lnTo>
                    <a:cubicBezTo>
                      <a:pt x="0" y="8087"/>
                      <a:pt x="1160" y="5288"/>
                      <a:pt x="3224" y="3224"/>
                    </a:cubicBezTo>
                    <a:cubicBezTo>
                      <a:pt x="5288" y="1160"/>
                      <a:pt x="8087" y="0"/>
                      <a:pt x="1100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705159" cy="26776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875015" y="440391"/>
              <a:ext cx="14399838" cy="25122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87"/>
                </a:lnSpc>
              </a:pPr>
              <a:r>
                <a:rPr lang="en-US" sz="7307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Sample Program Output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61150" y="3327825"/>
              <a:ext cx="11869514" cy="6997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03"/>
                </a:lnSpc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FLIGHT TRACKER SYSTEM</a:t>
              </a:r>
            </a:p>
            <a:p>
              <a:pPr marL="400349" lvl="1" indent="-200174" algn="l">
                <a:lnSpc>
                  <a:spcPts val="2503"/>
                </a:lnSpc>
                <a:buAutoNum type="arabicPeriod"/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View Arrivals</a:t>
              </a:r>
            </a:p>
            <a:p>
              <a:pPr marL="400349" lvl="1" indent="-200174" algn="l">
                <a:lnSpc>
                  <a:spcPts val="2503"/>
                </a:lnSpc>
                <a:buAutoNum type="arabicPeriod"/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View Departures</a:t>
              </a:r>
            </a:p>
            <a:p>
              <a:pPr marL="400349" lvl="1" indent="-200174" algn="l">
                <a:lnSpc>
                  <a:spcPts val="2503"/>
                </a:lnSpc>
                <a:buAutoNum type="arabicPeriod"/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Search Flight</a:t>
              </a:r>
            </a:p>
            <a:p>
              <a:pPr marL="400349" lvl="1" indent="-200174" algn="l">
                <a:lnSpc>
                  <a:spcPts val="2503"/>
                </a:lnSpc>
                <a:buAutoNum type="arabicPeriod"/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List Destinations</a:t>
              </a:r>
            </a:p>
            <a:p>
              <a:pPr marL="400349" lvl="1" indent="-200174" algn="l">
                <a:lnSpc>
                  <a:spcPts val="2503"/>
                </a:lnSpc>
                <a:buAutoNum type="arabicPeriod"/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Sort Flights</a:t>
              </a:r>
            </a:p>
            <a:p>
              <a:pPr marL="400349" lvl="1" indent="-200174" algn="l">
                <a:lnSpc>
                  <a:spcPts val="2503"/>
                </a:lnSpc>
                <a:buAutoNum type="arabicPeriod"/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Save Flight Details</a:t>
              </a:r>
            </a:p>
            <a:p>
              <a:pPr marL="400349" lvl="1" indent="-200174" algn="l">
                <a:lnSpc>
                  <a:spcPts val="2503"/>
                </a:lnSpc>
                <a:buAutoNum type="arabicPeriod"/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Show Statistics</a:t>
              </a:r>
            </a:p>
            <a:p>
              <a:pPr marL="400349" lvl="1" indent="-200174" algn="l">
                <a:lnSpc>
                  <a:spcPts val="2503"/>
                </a:lnSpc>
                <a:buAutoNum type="arabicPeriod"/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Exit</a:t>
              </a:r>
            </a:p>
            <a:p>
              <a:pPr algn="l">
                <a:lnSpc>
                  <a:spcPts val="2503"/>
                </a:lnSpc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Enter your choice: 7</a:t>
              </a:r>
            </a:p>
            <a:p>
              <a:pPr algn="l">
                <a:lnSpc>
                  <a:spcPts val="2503"/>
                </a:lnSpc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--- FLIGHT STATISTICS ---</a:t>
              </a:r>
            </a:p>
            <a:p>
              <a:pPr algn="l">
                <a:lnSpc>
                  <a:spcPts val="2503"/>
                </a:lnSpc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Total Flights: 16</a:t>
              </a:r>
            </a:p>
            <a:p>
              <a:pPr algn="l">
                <a:lnSpc>
                  <a:spcPts val="2503"/>
                </a:lnSpc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Arrived Flights: 5</a:t>
              </a:r>
            </a:p>
            <a:p>
              <a:pPr algn="l">
                <a:lnSpc>
                  <a:spcPts val="2503"/>
                </a:lnSpc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Delayed Flights: 3</a:t>
              </a:r>
            </a:p>
            <a:p>
              <a:pPr algn="l">
                <a:lnSpc>
                  <a:spcPts val="2503"/>
                </a:lnSpc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Enter your choice: 8</a:t>
              </a:r>
            </a:p>
            <a:p>
              <a:pPr algn="l">
                <a:lnSpc>
                  <a:spcPts val="2503"/>
                </a:lnSpc>
              </a:pPr>
              <a:r>
                <a:rPr lang="en-US" sz="1854" spc="11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Thank you for using Flight Tracker System!</a:t>
              </a:r>
            </a:p>
            <a:p>
              <a:pPr marL="0" lvl="0" indent="0" algn="l">
                <a:lnSpc>
                  <a:spcPts val="2503"/>
                </a:lnSpc>
                <a:spcBef>
                  <a:spcPct val="0"/>
                </a:spcBef>
              </a:pPr>
              <a:endParaRPr lang="en-US" sz="1854" spc="111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51163" y="397217"/>
            <a:ext cx="15847424" cy="9628215"/>
            <a:chOff x="0" y="0"/>
            <a:chExt cx="21129899" cy="1283762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1129899" cy="12837620"/>
              <a:chOff x="0" y="0"/>
              <a:chExt cx="3648214" cy="221649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648214" cy="2216498"/>
              </a:xfrm>
              <a:custGeom>
                <a:avLst/>
                <a:gdLst/>
                <a:ahLst/>
                <a:cxnLst/>
                <a:rect l="l" t="t" r="r" b="b"/>
                <a:pathLst>
                  <a:path w="3648214" h="2216498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2205320"/>
                    </a:lnTo>
                    <a:cubicBezTo>
                      <a:pt x="3648214" y="2211494"/>
                      <a:pt x="3643209" y="2216498"/>
                      <a:pt x="3637035" y="2216498"/>
                    </a:cubicBezTo>
                    <a:lnTo>
                      <a:pt x="11178" y="2216498"/>
                    </a:lnTo>
                    <a:cubicBezTo>
                      <a:pt x="5005" y="2216498"/>
                      <a:pt x="0" y="2211494"/>
                      <a:pt x="0" y="2205320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648214" cy="22545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  <a:p>
                <a:pPr algn="ctr">
                  <a:lnSpc>
                    <a:spcPts val="2660"/>
                  </a:lnSpc>
                </a:pPr>
                <a:endParaRPr/>
              </a:p>
              <a:p>
                <a:pPr algn="ctr">
                  <a:lnSpc>
                    <a:spcPts val="2660"/>
                  </a:lnSpc>
                </a:pPr>
                <a:endParaRPr/>
              </a:p>
              <a:p>
                <a:pPr algn="l">
                  <a:lnSpc>
                    <a:spcPts val="2660"/>
                  </a:lnSpc>
                </a:pPr>
                <a:endParaRPr/>
              </a:p>
              <a:p>
                <a:pPr algn="l">
                  <a:lnSpc>
                    <a:spcPts val="2660"/>
                  </a:lnSpc>
                </a:pPr>
                <a:endParaRPr/>
              </a:p>
              <a:p>
                <a:pPr algn="l">
                  <a:lnSpc>
                    <a:spcPts val="2660"/>
                  </a:lnSpc>
                </a:pPr>
                <a:endParaRPr/>
              </a:p>
              <a:p>
                <a:pPr algn="l">
                  <a:lnSpc>
                    <a:spcPts val="2660"/>
                  </a:lnSpc>
                </a:pPr>
                <a:endParaRPr/>
              </a:p>
              <a:p>
                <a:pPr algn="l">
                  <a:lnSpc>
                    <a:spcPts val="2660"/>
                  </a:lnSpc>
                </a:pPr>
                <a:endParaRPr/>
              </a:p>
              <a:p>
                <a:pPr algn="l">
                  <a:lnSpc>
                    <a:spcPts val="3639"/>
                  </a:lnSpc>
                </a:pPr>
                <a:r>
                  <a:rPr lang="en-US" sz="2599" i="1">
                    <a:solidFill>
                      <a:srgbClr val="FFFFFF"/>
                    </a:solidFill>
                    <a:latin typeface="Lato Italics"/>
                    <a:ea typeface="Lato Italics"/>
                    <a:cs typeface="Lato Italics"/>
                    <a:sym typeface="Lato Italics"/>
                  </a:rPr>
                  <a:t>GeoTag Photo:</a:t>
                </a: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2660"/>
                  </a:lnSpc>
                </a:pPr>
                <a:endParaRPr lang="en-US" sz="25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  <a:p>
                <a:pPr algn="l">
                  <a:lnSpc>
                    <a:spcPts val="4619"/>
                  </a:lnSpc>
                </a:pPr>
                <a:r>
                  <a:rPr lang="en-US" sz="3299" i="1">
                    <a:solidFill>
                      <a:srgbClr val="FFFFFF"/>
                    </a:solidFill>
                    <a:latin typeface="Lato Italics"/>
                    <a:ea typeface="Lato Italics"/>
                    <a:cs typeface="Lato Italics"/>
                    <a:sym typeface="Lato Italics"/>
                  </a:rPr>
                  <a:t>GITHUB LINK: https://github.com/pksmart2008-code/Airport-Flight-tracker-Java-code</a:t>
                </a:r>
              </a:p>
              <a:p>
                <a:pPr algn="l">
                  <a:lnSpc>
                    <a:spcPts val="4619"/>
                  </a:lnSpc>
                </a:pPr>
                <a:endParaRPr lang="en-US" sz="3299" i="1">
                  <a:solidFill>
                    <a:srgbClr val="FFFFFF"/>
                  </a:solidFill>
                  <a:latin typeface="Lato Italics"/>
                  <a:ea typeface="Lato Italics"/>
                  <a:cs typeface="Lato Italics"/>
                  <a:sym typeface="Lato Italics"/>
                </a:endParaRPr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49507" y="430532"/>
              <a:ext cx="20786876" cy="2973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339"/>
                </a:lnSpc>
              </a:pPr>
              <a:r>
                <a:rPr lang="en-US" sz="8597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Geo Tag Photo and Github link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453" y="3692839"/>
              <a:ext cx="14590035" cy="478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596088" y="8892522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99352" y="3186959"/>
            <a:ext cx="11749900" cy="176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459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10435729">
            <a:off x="-3241105" y="-2477065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572</Words>
  <Application>Microsoft Office PowerPoint</Application>
  <PresentationFormat>Custom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Red Hat Display</vt:lpstr>
      <vt:lpstr>Arial</vt:lpstr>
      <vt:lpstr>Archivo Black</vt:lpstr>
      <vt:lpstr>Lato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www.reallygreatsite.com</dc:title>
  <cp:lastModifiedBy>Praveen kumar SB</cp:lastModifiedBy>
  <cp:revision>1</cp:revision>
  <dcterms:created xsi:type="dcterms:W3CDTF">2006-08-16T00:00:00Z</dcterms:created>
  <dcterms:modified xsi:type="dcterms:W3CDTF">2026-10-15T13:58:05Z</dcterms:modified>
  <dc:identifier>DAHYEU0Cj0o</dc:identifier>
</cp:coreProperties>
</file>