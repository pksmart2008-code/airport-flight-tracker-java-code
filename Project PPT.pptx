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8288000" cy="10287000"/>
  <p:notesSz cx="6858000" cy="9144000"/>
  <p:embeddedFontLst>
    <p:embeddedFont>
      <p:font typeface="Archivo Black" panose="020B0604020202020204" charset="0"/>
      <p:regular r:id="rId15"/>
    </p:embeddedFont>
    <p:embeddedFont>
      <p:font typeface="Lato Italics" panose="020B0604020202020204" charset="0"/>
      <p:regular r:id="rId16"/>
    </p:embeddedFont>
    <p:embeddedFont>
      <p:font typeface="Red Hat Display" panose="020B0604020202020204" charset="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3F30813-85C5-4382-8EDC-4E7AE9F39D6B}" v="3" dt="2026-10-15T15:30:16.76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9" d="100"/>
          <a:sy n="59" d="100"/>
        </p:scale>
        <p:origin x="34" y="101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aveen kumar SB" userId="c58843396e9a3c31" providerId="LiveId" clId="{87ED25A8-1540-45FB-A876-492F147BE13A}"/>
    <pc:docChg chg="undo custSel modSld sldOrd">
      <pc:chgData name="Praveen kumar SB" userId="c58843396e9a3c31" providerId="LiveId" clId="{87ED25A8-1540-45FB-A876-492F147BE13A}" dt="2026-10-16T06:13:30.298" v="128" actId="1076"/>
      <pc:docMkLst>
        <pc:docMk/>
      </pc:docMkLst>
      <pc:sldChg chg="addSp delSp modSp mod ord">
        <pc:chgData name="Praveen kumar SB" userId="c58843396e9a3c31" providerId="LiveId" clId="{87ED25A8-1540-45FB-A876-492F147BE13A}" dt="2026-10-16T05:45:09.443" v="92" actId="20577"/>
        <pc:sldMkLst>
          <pc:docMk/>
          <pc:sldMk cId="0" sldId="256"/>
        </pc:sldMkLst>
        <pc:spChg chg="mod">
          <ac:chgData name="Praveen kumar SB" userId="c58843396e9a3c31" providerId="LiveId" clId="{87ED25A8-1540-45FB-A876-492F147BE13A}" dt="2026-10-16T05:45:09.443" v="92" actId="20577"/>
          <ac:spMkLst>
            <pc:docMk/>
            <pc:sldMk cId="0" sldId="256"/>
            <ac:spMk id="4" creationId="{00000000-0000-0000-0000-000000000000}"/>
          </ac:spMkLst>
        </pc:spChg>
        <pc:spChg chg="mod">
          <ac:chgData name="Praveen kumar SB" userId="c58843396e9a3c31" providerId="LiveId" clId="{87ED25A8-1540-45FB-A876-492F147BE13A}" dt="2026-10-15T13:57:54.946" v="0" actId="1076"/>
          <ac:spMkLst>
            <pc:docMk/>
            <pc:sldMk cId="0" sldId="256"/>
            <ac:spMk id="5" creationId="{00000000-0000-0000-0000-000000000000}"/>
          </ac:spMkLst>
        </pc:spChg>
        <pc:picChg chg="add del mod">
          <ac:chgData name="Praveen kumar SB" userId="c58843396e9a3c31" providerId="LiveId" clId="{87ED25A8-1540-45FB-A876-492F147BE13A}" dt="2026-10-16T05:43:00.376" v="81" actId="478"/>
          <ac:picMkLst>
            <pc:docMk/>
            <pc:sldMk cId="0" sldId="256"/>
            <ac:picMk id="6" creationId="{FF2F737E-F0E2-8809-BF9D-F14E19ADFEA0}"/>
          </ac:picMkLst>
        </pc:picChg>
      </pc:sldChg>
      <pc:sldChg chg="addSp modSp mod">
        <pc:chgData name="Praveen kumar SB" userId="c58843396e9a3c31" providerId="LiveId" clId="{87ED25A8-1540-45FB-A876-492F147BE13A}" dt="2026-10-16T06:06:18.330" v="97" actId="1076"/>
        <pc:sldMkLst>
          <pc:docMk/>
          <pc:sldMk cId="0" sldId="259"/>
        </pc:sldMkLst>
        <pc:spChg chg="mod">
          <ac:chgData name="Praveen kumar SB" userId="c58843396e9a3c31" providerId="LiveId" clId="{87ED25A8-1540-45FB-A876-492F147BE13A}" dt="2026-10-16T05:45:58.704" v="94" actId="1076"/>
          <ac:spMkLst>
            <pc:docMk/>
            <pc:sldMk cId="0" sldId="259"/>
            <ac:spMk id="6" creationId="{00000000-0000-0000-0000-000000000000}"/>
          </ac:spMkLst>
        </pc:spChg>
        <pc:spChg chg="mod">
          <ac:chgData name="Praveen kumar SB" userId="c58843396e9a3c31" providerId="LiveId" clId="{87ED25A8-1540-45FB-A876-492F147BE13A}" dt="2026-10-16T05:45:54.904" v="93" actId="1076"/>
          <ac:spMkLst>
            <pc:docMk/>
            <pc:sldMk cId="0" sldId="259"/>
            <ac:spMk id="9" creationId="{00000000-0000-0000-0000-000000000000}"/>
          </ac:spMkLst>
        </pc:spChg>
        <pc:spChg chg="mod">
          <ac:chgData name="Praveen kumar SB" userId="c58843396e9a3c31" providerId="LiveId" clId="{87ED25A8-1540-45FB-A876-492F147BE13A}" dt="2026-10-16T05:46:01.294" v="95" actId="1076"/>
          <ac:spMkLst>
            <pc:docMk/>
            <pc:sldMk cId="0" sldId="259"/>
            <ac:spMk id="10" creationId="{00000000-0000-0000-0000-000000000000}"/>
          </ac:spMkLst>
        </pc:spChg>
        <pc:picChg chg="add mod">
          <ac:chgData name="Praveen kumar SB" userId="c58843396e9a3c31" providerId="LiveId" clId="{87ED25A8-1540-45FB-A876-492F147BE13A}" dt="2026-10-16T06:06:18.330" v="97" actId="1076"/>
          <ac:picMkLst>
            <pc:docMk/>
            <pc:sldMk cId="0" sldId="259"/>
            <ac:picMk id="12" creationId="{ED5D9ABF-7C8F-AB23-1444-513081F23CEF}"/>
          </ac:picMkLst>
        </pc:picChg>
      </pc:sldChg>
      <pc:sldChg chg="addSp modSp mod">
        <pc:chgData name="Praveen kumar SB" userId="c58843396e9a3c31" providerId="LiveId" clId="{87ED25A8-1540-45FB-A876-492F147BE13A}" dt="2026-10-16T06:07:05.200" v="104" actId="1076"/>
        <pc:sldMkLst>
          <pc:docMk/>
          <pc:sldMk cId="0" sldId="260"/>
        </pc:sldMkLst>
        <pc:spChg chg="mod">
          <ac:chgData name="Praveen kumar SB" userId="c58843396e9a3c31" providerId="LiveId" clId="{87ED25A8-1540-45FB-A876-492F147BE13A}" dt="2026-10-16T04:52:15.549" v="70" actId="20577"/>
          <ac:spMkLst>
            <pc:docMk/>
            <pc:sldMk cId="0" sldId="260"/>
            <ac:spMk id="9" creationId="{00000000-0000-0000-0000-000000000000}"/>
          </ac:spMkLst>
        </pc:spChg>
        <pc:picChg chg="add mod">
          <ac:chgData name="Praveen kumar SB" userId="c58843396e9a3c31" providerId="LiveId" clId="{87ED25A8-1540-45FB-A876-492F147BE13A}" dt="2026-10-16T06:07:05.200" v="104" actId="1076"/>
          <ac:picMkLst>
            <pc:docMk/>
            <pc:sldMk cId="0" sldId="260"/>
            <ac:picMk id="12" creationId="{C2669ED3-A3C2-B7B0-B3CA-487D4F25586C}"/>
          </ac:picMkLst>
        </pc:picChg>
      </pc:sldChg>
      <pc:sldChg chg="addSp modSp mod">
        <pc:chgData name="Praveen kumar SB" userId="c58843396e9a3c31" providerId="LiveId" clId="{87ED25A8-1540-45FB-A876-492F147BE13A}" dt="2026-10-16T06:07:39.745" v="106" actId="1076"/>
        <pc:sldMkLst>
          <pc:docMk/>
          <pc:sldMk cId="0" sldId="261"/>
        </pc:sldMkLst>
        <pc:picChg chg="add mod">
          <ac:chgData name="Praveen kumar SB" userId="c58843396e9a3c31" providerId="LiveId" clId="{87ED25A8-1540-45FB-A876-492F147BE13A}" dt="2026-10-16T06:07:39.745" v="106" actId="1076"/>
          <ac:picMkLst>
            <pc:docMk/>
            <pc:sldMk cId="0" sldId="261"/>
            <ac:picMk id="12" creationId="{A9DF5099-7683-72F5-08C0-A1613DE552A6}"/>
          </ac:picMkLst>
        </pc:picChg>
      </pc:sldChg>
      <pc:sldChg chg="addSp modSp mod">
        <pc:chgData name="Praveen kumar SB" userId="c58843396e9a3c31" providerId="LiveId" clId="{87ED25A8-1540-45FB-A876-492F147BE13A}" dt="2026-10-16T06:10:22.173" v="116" actId="14100"/>
        <pc:sldMkLst>
          <pc:docMk/>
          <pc:sldMk cId="0" sldId="262"/>
        </pc:sldMkLst>
        <pc:spChg chg="mod">
          <ac:chgData name="Praveen kumar SB" userId="c58843396e9a3c31" providerId="LiveId" clId="{87ED25A8-1540-45FB-A876-492F147BE13A}" dt="2026-10-16T06:10:06.860" v="110" actId="20577"/>
          <ac:spMkLst>
            <pc:docMk/>
            <pc:sldMk cId="0" sldId="262"/>
            <ac:spMk id="6" creationId="{00000000-0000-0000-0000-000000000000}"/>
          </ac:spMkLst>
        </pc:spChg>
        <pc:spChg chg="mod">
          <ac:chgData name="Praveen kumar SB" userId="c58843396e9a3c31" providerId="LiveId" clId="{87ED25A8-1540-45FB-A876-492F147BE13A}" dt="2026-10-16T06:10:11.138" v="112" actId="1076"/>
          <ac:spMkLst>
            <pc:docMk/>
            <pc:sldMk cId="0" sldId="262"/>
            <ac:spMk id="10" creationId="{00000000-0000-0000-0000-000000000000}"/>
          </ac:spMkLst>
        </pc:spChg>
        <pc:picChg chg="add mod">
          <ac:chgData name="Praveen kumar SB" userId="c58843396e9a3c31" providerId="LiveId" clId="{87ED25A8-1540-45FB-A876-492F147BE13A}" dt="2026-10-16T06:10:22.173" v="116" actId="14100"/>
          <ac:picMkLst>
            <pc:docMk/>
            <pc:sldMk cId="0" sldId="262"/>
            <ac:picMk id="12" creationId="{9A2E66F3-075E-525F-7890-C1415B2F5A97}"/>
          </ac:picMkLst>
        </pc:picChg>
      </pc:sldChg>
      <pc:sldChg chg="addSp modSp mod">
        <pc:chgData name="Praveen kumar SB" userId="c58843396e9a3c31" providerId="LiveId" clId="{87ED25A8-1540-45FB-A876-492F147BE13A}" dt="2026-10-16T06:12:00.868" v="123" actId="1076"/>
        <pc:sldMkLst>
          <pc:docMk/>
          <pc:sldMk cId="0" sldId="263"/>
        </pc:sldMkLst>
        <pc:spChg chg="mod">
          <ac:chgData name="Praveen kumar SB" userId="c58843396e9a3c31" providerId="LiveId" clId="{87ED25A8-1540-45FB-A876-492F147BE13A}" dt="2026-10-16T06:11:58.867" v="122" actId="1076"/>
          <ac:spMkLst>
            <pc:docMk/>
            <pc:sldMk cId="0" sldId="263"/>
            <ac:spMk id="10" creationId="{00000000-0000-0000-0000-000000000000}"/>
          </ac:spMkLst>
        </pc:spChg>
        <pc:picChg chg="add mod">
          <ac:chgData name="Praveen kumar SB" userId="c58843396e9a3c31" providerId="LiveId" clId="{87ED25A8-1540-45FB-A876-492F147BE13A}" dt="2026-10-16T06:12:00.868" v="123" actId="1076"/>
          <ac:picMkLst>
            <pc:docMk/>
            <pc:sldMk cId="0" sldId="263"/>
            <ac:picMk id="12" creationId="{C19067B7-A364-19E2-0003-3CEB435FE299}"/>
          </ac:picMkLst>
        </pc:picChg>
      </pc:sldChg>
      <pc:sldChg chg="addSp modSp mod">
        <pc:chgData name="Praveen kumar SB" userId="c58843396e9a3c31" providerId="LiveId" clId="{87ED25A8-1540-45FB-A876-492F147BE13A}" dt="2026-10-16T06:13:30.298" v="128" actId="1076"/>
        <pc:sldMkLst>
          <pc:docMk/>
          <pc:sldMk cId="0" sldId="264"/>
        </pc:sldMkLst>
        <pc:spChg chg="mod">
          <ac:chgData name="Praveen kumar SB" userId="c58843396e9a3c31" providerId="LiveId" clId="{87ED25A8-1540-45FB-A876-492F147BE13A}" dt="2026-10-16T06:12:09.265" v="124" actId="1076"/>
          <ac:spMkLst>
            <pc:docMk/>
            <pc:sldMk cId="0" sldId="264"/>
            <ac:spMk id="6" creationId="{00000000-0000-0000-0000-000000000000}"/>
          </ac:spMkLst>
        </pc:spChg>
        <pc:spChg chg="mod">
          <ac:chgData name="Praveen kumar SB" userId="c58843396e9a3c31" providerId="LiveId" clId="{87ED25A8-1540-45FB-A876-492F147BE13A}" dt="2026-10-15T15:30:16.766" v="13"/>
          <ac:spMkLst>
            <pc:docMk/>
            <pc:sldMk cId="0" sldId="264"/>
            <ac:spMk id="7" creationId="{00000000-0000-0000-0000-000000000000}"/>
          </ac:spMkLst>
        </pc:spChg>
        <pc:spChg chg="mod">
          <ac:chgData name="Praveen kumar SB" userId="c58843396e9a3c31" providerId="LiveId" clId="{87ED25A8-1540-45FB-A876-492F147BE13A}" dt="2026-10-15T15:30:16.766" v="13"/>
          <ac:spMkLst>
            <pc:docMk/>
            <pc:sldMk cId="0" sldId="264"/>
            <ac:spMk id="8" creationId="{00000000-0000-0000-0000-000000000000}"/>
          </ac:spMkLst>
        </pc:spChg>
        <pc:spChg chg="mod">
          <ac:chgData name="Praveen kumar SB" userId="c58843396e9a3c31" providerId="LiveId" clId="{87ED25A8-1540-45FB-A876-492F147BE13A}" dt="2026-10-15T15:31:08.091" v="68" actId="5793"/>
          <ac:spMkLst>
            <pc:docMk/>
            <pc:sldMk cId="0" sldId="264"/>
            <ac:spMk id="9" creationId="{00000000-0000-0000-0000-000000000000}"/>
          </ac:spMkLst>
        </pc:spChg>
        <pc:spChg chg="mod">
          <ac:chgData name="Praveen kumar SB" userId="c58843396e9a3c31" providerId="LiveId" clId="{87ED25A8-1540-45FB-A876-492F147BE13A}" dt="2026-10-16T06:13:30.298" v="128" actId="1076"/>
          <ac:spMkLst>
            <pc:docMk/>
            <pc:sldMk cId="0" sldId="264"/>
            <ac:spMk id="10" creationId="{00000000-0000-0000-0000-000000000000}"/>
          </ac:spMkLst>
        </pc:spChg>
        <pc:grpChg chg="mod">
          <ac:chgData name="Praveen kumar SB" userId="c58843396e9a3c31" providerId="LiveId" clId="{87ED25A8-1540-45FB-A876-492F147BE13A}" dt="2026-10-15T15:30:16.766" v="13"/>
          <ac:grpSpMkLst>
            <pc:docMk/>
            <pc:sldMk cId="0" sldId="264"/>
            <ac:grpSpMk id="4" creationId="{00000000-0000-0000-0000-000000000000}"/>
          </ac:grpSpMkLst>
        </pc:grpChg>
        <pc:grpChg chg="mod">
          <ac:chgData name="Praveen kumar SB" userId="c58843396e9a3c31" providerId="LiveId" clId="{87ED25A8-1540-45FB-A876-492F147BE13A}" dt="2026-10-15T15:30:16.766" v="13"/>
          <ac:grpSpMkLst>
            <pc:docMk/>
            <pc:sldMk cId="0" sldId="264"/>
            <ac:grpSpMk id="5" creationId="{00000000-0000-0000-0000-000000000000}"/>
          </ac:grpSpMkLst>
        </pc:grpChg>
        <pc:picChg chg="add mod">
          <ac:chgData name="Praveen kumar SB" userId="c58843396e9a3c31" providerId="LiveId" clId="{87ED25A8-1540-45FB-A876-492F147BE13A}" dt="2026-10-16T06:13:25.769" v="127" actId="1076"/>
          <ac:picMkLst>
            <pc:docMk/>
            <pc:sldMk cId="0" sldId="264"/>
            <ac:picMk id="12" creationId="{EC32C472-D142-EBBA-F293-2E687305D17A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5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5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5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5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5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259" b="-9259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11095" y="1547769"/>
            <a:ext cx="11695306" cy="47440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218"/>
              </a:lnSpc>
            </a:pPr>
            <a:r>
              <a:rPr lang="en-US" sz="12998" dirty="0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Airport Flight Board &amp; Scheduler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76325" y="6273133"/>
            <a:ext cx="9094305" cy="27283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02"/>
              </a:lnSpc>
              <a:spcBef>
                <a:spcPct val="0"/>
              </a:spcBef>
            </a:pPr>
            <a:r>
              <a:rPr lang="en-US" sz="3073" dirty="0">
                <a:solidFill>
                  <a:srgbClr val="F4F4ED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Presented by:</a:t>
            </a:r>
          </a:p>
          <a:p>
            <a:pPr algn="l">
              <a:lnSpc>
                <a:spcPts val="4302"/>
              </a:lnSpc>
              <a:spcBef>
                <a:spcPct val="0"/>
              </a:spcBef>
            </a:pPr>
            <a:r>
              <a:rPr lang="en-US" sz="3073" dirty="0">
                <a:solidFill>
                  <a:srgbClr val="F4F4ED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 Aditiya 2620030273</a:t>
            </a:r>
          </a:p>
          <a:p>
            <a:pPr algn="l">
              <a:lnSpc>
                <a:spcPts val="4302"/>
              </a:lnSpc>
              <a:spcBef>
                <a:spcPct val="0"/>
              </a:spcBef>
            </a:pPr>
            <a:r>
              <a:rPr lang="en-US" sz="3073" dirty="0">
                <a:solidFill>
                  <a:srgbClr val="F4F4ED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Praveen 2620080019</a:t>
            </a:r>
          </a:p>
          <a:p>
            <a:pPr algn="l">
              <a:lnSpc>
                <a:spcPts val="4302"/>
              </a:lnSpc>
              <a:spcBef>
                <a:spcPct val="0"/>
              </a:spcBef>
            </a:pPr>
            <a:endParaRPr lang="en-US" sz="3073" dirty="0">
              <a:solidFill>
                <a:srgbClr val="F4F4ED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algn="l">
              <a:lnSpc>
                <a:spcPts val="4302"/>
              </a:lnSpc>
              <a:spcBef>
                <a:spcPct val="0"/>
              </a:spcBef>
            </a:pPr>
            <a:r>
              <a:rPr lang="en-US" sz="3073" dirty="0">
                <a:solidFill>
                  <a:srgbClr val="F4F4ED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Group-19 </a:t>
            </a:r>
          </a:p>
        </p:txBody>
      </p:sp>
      <p:sp>
        <p:nvSpPr>
          <p:cNvPr id="5" name="Freeform 5"/>
          <p:cNvSpPr/>
          <p:nvPr/>
        </p:nvSpPr>
        <p:spPr>
          <a:xfrm rot="-1542318" flipV="1">
            <a:off x="13439854" y="1028701"/>
            <a:ext cx="7674102" cy="8229600"/>
          </a:xfrm>
          <a:custGeom>
            <a:avLst/>
            <a:gdLst/>
            <a:ahLst/>
            <a:cxnLst/>
            <a:rect l="l" t="t" r="r" b="b"/>
            <a:pathLst>
              <a:path w="7674102" h="8229600">
                <a:moveTo>
                  <a:pt x="0" y="8229600"/>
                </a:moveTo>
                <a:lnTo>
                  <a:pt x="7674102" y="8229600"/>
                </a:lnTo>
                <a:lnTo>
                  <a:pt x="7674102" y="0"/>
                </a:lnTo>
                <a:lnTo>
                  <a:pt x="0" y="0"/>
                </a:lnTo>
                <a:lnTo>
                  <a:pt x="0" y="822960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259" b="-9259"/>
            </a:stretch>
          </a:blipFill>
        </p:spPr>
      </p:sp>
      <p:sp>
        <p:nvSpPr>
          <p:cNvPr id="3" name="Freeform 3"/>
          <p:cNvSpPr/>
          <p:nvPr/>
        </p:nvSpPr>
        <p:spPr>
          <a:xfrm rot="6626729">
            <a:off x="11878550" y="2429250"/>
            <a:ext cx="12221289" cy="8822969"/>
          </a:xfrm>
          <a:custGeom>
            <a:avLst/>
            <a:gdLst/>
            <a:ahLst/>
            <a:cxnLst/>
            <a:rect l="l" t="t" r="r" b="b"/>
            <a:pathLst>
              <a:path w="12221289" h="8822969">
                <a:moveTo>
                  <a:pt x="0" y="0"/>
                </a:moveTo>
                <a:lnTo>
                  <a:pt x="12221289" y="0"/>
                </a:lnTo>
                <a:lnTo>
                  <a:pt x="12221289" y="8822969"/>
                </a:lnTo>
                <a:lnTo>
                  <a:pt x="0" y="8822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028700" y="2347154"/>
            <a:ext cx="13851811" cy="6554679"/>
            <a:chOff x="0" y="0"/>
            <a:chExt cx="18469082" cy="8739572"/>
          </a:xfrm>
        </p:grpSpPr>
        <p:grpSp>
          <p:nvGrpSpPr>
            <p:cNvPr id="5" name="Group 5"/>
            <p:cNvGrpSpPr/>
            <p:nvPr/>
          </p:nvGrpSpPr>
          <p:grpSpPr>
            <a:xfrm>
              <a:off x="0" y="0"/>
              <a:ext cx="18469082" cy="8739572"/>
              <a:chOff x="0" y="0"/>
              <a:chExt cx="3648214" cy="1726335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3648214" cy="1726335"/>
              </a:xfrm>
              <a:custGeom>
                <a:avLst/>
                <a:gdLst/>
                <a:ahLst/>
                <a:cxnLst/>
                <a:rect l="l" t="t" r="r" b="b"/>
                <a:pathLst>
                  <a:path w="3648214" h="1726335">
                    <a:moveTo>
                      <a:pt x="11178" y="0"/>
                    </a:moveTo>
                    <a:lnTo>
                      <a:pt x="3637035" y="0"/>
                    </a:lnTo>
                    <a:cubicBezTo>
                      <a:pt x="3643209" y="0"/>
                      <a:pt x="3648214" y="5005"/>
                      <a:pt x="3648214" y="11178"/>
                    </a:cubicBezTo>
                    <a:lnTo>
                      <a:pt x="3648214" y="1715157"/>
                    </a:lnTo>
                    <a:cubicBezTo>
                      <a:pt x="3648214" y="1721330"/>
                      <a:pt x="3643209" y="1726335"/>
                      <a:pt x="3637035" y="1726335"/>
                    </a:cubicBezTo>
                    <a:lnTo>
                      <a:pt x="11178" y="1726335"/>
                    </a:lnTo>
                    <a:cubicBezTo>
                      <a:pt x="5005" y="1726335"/>
                      <a:pt x="0" y="1721330"/>
                      <a:pt x="0" y="1715157"/>
                    </a:cubicBezTo>
                    <a:lnTo>
                      <a:pt x="0" y="11178"/>
                    </a:lnTo>
                    <a:cubicBezTo>
                      <a:pt x="0" y="5005"/>
                      <a:pt x="5005" y="0"/>
                      <a:pt x="11178" y="0"/>
                    </a:cubicBezTo>
                    <a:close/>
                  </a:path>
                </a:pathLst>
              </a:custGeom>
              <a:solidFill>
                <a:srgbClr val="04001E"/>
              </a:solidFill>
              <a:ln w="38100" cap="sq">
                <a:solidFill>
                  <a:srgbClr val="E5E1DA"/>
                </a:solidFill>
                <a:prstDash val="solid"/>
                <a:miter/>
              </a:ln>
            </p:spPr>
          </p:sp>
          <p:sp>
            <p:nvSpPr>
              <p:cNvPr id="7" name="TextBox 7"/>
              <p:cNvSpPr txBox="1"/>
              <p:nvPr/>
            </p:nvSpPr>
            <p:spPr>
              <a:xfrm>
                <a:off x="0" y="-38100"/>
                <a:ext cx="3648214" cy="176443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8" name="TextBox 8"/>
            <p:cNvSpPr txBox="1"/>
            <p:nvPr/>
          </p:nvSpPr>
          <p:spPr>
            <a:xfrm>
              <a:off x="1282925" y="1141085"/>
              <a:ext cx="14095560" cy="16332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8730"/>
                </a:lnSpc>
              </a:pPr>
              <a:r>
                <a:rPr lang="en-US" sz="9000">
                  <a:solidFill>
                    <a:srgbClr val="F4F4ED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Abstract 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186830" y="3133956"/>
              <a:ext cx="12752761" cy="43370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374"/>
                </a:lnSpc>
              </a:pPr>
              <a:r>
                <a:rPr lang="en-US" sz="2499" spc="149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The Flight Tracker System is a Java-based console application used to manage and display flight information.</a:t>
              </a:r>
            </a:p>
            <a:p>
              <a:pPr algn="l">
                <a:lnSpc>
                  <a:spcPts val="3374"/>
                </a:lnSpc>
              </a:pPr>
              <a:r>
                <a:rPr lang="en-US" sz="2499" spc="149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It allows users to view arrivals and departures, search for flights, check destinations, sort flight details, and view flight statistics.</a:t>
              </a:r>
            </a:p>
            <a:p>
              <a:pPr algn="l">
                <a:lnSpc>
                  <a:spcPts val="3374"/>
                </a:lnSpc>
              </a:pPr>
              <a:r>
                <a:rPr lang="en-US" sz="2499" spc="149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The main aim of this project is to make flight information easy to access through a simple menu-driven program.</a:t>
              </a:r>
            </a:p>
            <a:p>
              <a:pPr marL="0" lvl="0" indent="0" algn="l">
                <a:lnSpc>
                  <a:spcPts val="2699"/>
                </a:lnSpc>
                <a:spcBef>
                  <a:spcPct val="0"/>
                </a:spcBef>
              </a:pPr>
              <a:endParaRPr lang="en-US" sz="2499" spc="149">
                <a:solidFill>
                  <a:srgbClr val="FFFFFF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  <p:sp>
        <p:nvSpPr>
          <p:cNvPr id="10" name="Freeform 10"/>
          <p:cNvSpPr/>
          <p:nvPr/>
        </p:nvSpPr>
        <p:spPr>
          <a:xfrm>
            <a:off x="12271832" y="7270926"/>
            <a:ext cx="896420" cy="896420"/>
          </a:xfrm>
          <a:custGeom>
            <a:avLst/>
            <a:gdLst/>
            <a:ahLst/>
            <a:cxnLst/>
            <a:rect l="l" t="t" r="r" b="b"/>
            <a:pathLst>
              <a:path w="896420" h="896420">
                <a:moveTo>
                  <a:pt x="0" y="0"/>
                </a:moveTo>
                <a:lnTo>
                  <a:pt x="896421" y="0"/>
                </a:lnTo>
                <a:lnTo>
                  <a:pt x="896421" y="896421"/>
                </a:lnTo>
                <a:lnTo>
                  <a:pt x="0" y="8964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259" b="-9259"/>
            </a:stretch>
          </a:blipFill>
        </p:spPr>
      </p:sp>
      <p:sp>
        <p:nvSpPr>
          <p:cNvPr id="3" name="Freeform 3"/>
          <p:cNvSpPr/>
          <p:nvPr/>
        </p:nvSpPr>
        <p:spPr>
          <a:xfrm rot="6626729">
            <a:off x="11878550" y="2429250"/>
            <a:ext cx="12221289" cy="8822969"/>
          </a:xfrm>
          <a:custGeom>
            <a:avLst/>
            <a:gdLst/>
            <a:ahLst/>
            <a:cxnLst/>
            <a:rect l="l" t="t" r="r" b="b"/>
            <a:pathLst>
              <a:path w="12221289" h="8822969">
                <a:moveTo>
                  <a:pt x="0" y="0"/>
                </a:moveTo>
                <a:lnTo>
                  <a:pt x="12221289" y="0"/>
                </a:lnTo>
                <a:lnTo>
                  <a:pt x="12221289" y="8822969"/>
                </a:lnTo>
                <a:lnTo>
                  <a:pt x="0" y="8822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555667" y="542620"/>
            <a:ext cx="12652595" cy="9342452"/>
            <a:chOff x="0" y="0"/>
            <a:chExt cx="16870126" cy="12456602"/>
          </a:xfrm>
        </p:grpSpPr>
        <p:grpSp>
          <p:nvGrpSpPr>
            <p:cNvPr id="5" name="Group 5"/>
            <p:cNvGrpSpPr/>
            <p:nvPr/>
          </p:nvGrpSpPr>
          <p:grpSpPr>
            <a:xfrm>
              <a:off x="0" y="0"/>
              <a:ext cx="16870126" cy="12456602"/>
              <a:chOff x="0" y="0"/>
              <a:chExt cx="3593121" cy="2653097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3593121" cy="2653097"/>
              </a:xfrm>
              <a:custGeom>
                <a:avLst/>
                <a:gdLst/>
                <a:ahLst/>
                <a:cxnLst/>
                <a:rect l="l" t="t" r="r" b="b"/>
                <a:pathLst>
                  <a:path w="3593121" h="2653097">
                    <a:moveTo>
                      <a:pt x="11350" y="0"/>
                    </a:moveTo>
                    <a:lnTo>
                      <a:pt x="3581772" y="0"/>
                    </a:lnTo>
                    <a:cubicBezTo>
                      <a:pt x="3584782" y="0"/>
                      <a:pt x="3587669" y="1196"/>
                      <a:pt x="3589797" y="3324"/>
                    </a:cubicBezTo>
                    <a:cubicBezTo>
                      <a:pt x="3591926" y="5453"/>
                      <a:pt x="3593121" y="8339"/>
                      <a:pt x="3593121" y="11350"/>
                    </a:cubicBezTo>
                    <a:lnTo>
                      <a:pt x="3593121" y="2641748"/>
                    </a:lnTo>
                    <a:cubicBezTo>
                      <a:pt x="3593121" y="2644758"/>
                      <a:pt x="3591926" y="2647644"/>
                      <a:pt x="3589797" y="2649773"/>
                    </a:cubicBezTo>
                    <a:cubicBezTo>
                      <a:pt x="3587669" y="2651902"/>
                      <a:pt x="3584782" y="2653097"/>
                      <a:pt x="3581772" y="2653097"/>
                    </a:cubicBezTo>
                    <a:lnTo>
                      <a:pt x="11350" y="2653097"/>
                    </a:lnTo>
                    <a:cubicBezTo>
                      <a:pt x="8339" y="2653097"/>
                      <a:pt x="5453" y="2651902"/>
                      <a:pt x="3324" y="2649773"/>
                    </a:cubicBezTo>
                    <a:cubicBezTo>
                      <a:pt x="1196" y="2647644"/>
                      <a:pt x="0" y="2644758"/>
                      <a:pt x="0" y="2641748"/>
                    </a:cubicBezTo>
                    <a:lnTo>
                      <a:pt x="0" y="11350"/>
                    </a:lnTo>
                    <a:cubicBezTo>
                      <a:pt x="0" y="8339"/>
                      <a:pt x="1196" y="5453"/>
                      <a:pt x="3324" y="3324"/>
                    </a:cubicBezTo>
                    <a:cubicBezTo>
                      <a:pt x="5453" y="1196"/>
                      <a:pt x="8339" y="0"/>
                      <a:pt x="11350" y="0"/>
                    </a:cubicBezTo>
                    <a:close/>
                  </a:path>
                </a:pathLst>
              </a:custGeom>
              <a:solidFill>
                <a:srgbClr val="04001E"/>
              </a:solidFill>
              <a:ln w="38100" cap="sq">
                <a:solidFill>
                  <a:srgbClr val="E5E1DA"/>
                </a:solidFill>
                <a:prstDash val="solid"/>
                <a:miter/>
              </a:ln>
            </p:spPr>
          </p:sp>
          <p:sp>
            <p:nvSpPr>
              <p:cNvPr id="7" name="TextBox 7"/>
              <p:cNvSpPr txBox="1"/>
              <p:nvPr/>
            </p:nvSpPr>
            <p:spPr>
              <a:xfrm>
                <a:off x="0" y="-38100"/>
                <a:ext cx="3593121" cy="269119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8" name="TextBox 8"/>
            <p:cNvSpPr txBox="1"/>
            <p:nvPr/>
          </p:nvSpPr>
          <p:spPr>
            <a:xfrm>
              <a:off x="1095764" y="2120413"/>
              <a:ext cx="14119826" cy="25533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7197"/>
                </a:lnSpc>
              </a:pPr>
              <a:r>
                <a:rPr lang="en-US" sz="7419">
                  <a:solidFill>
                    <a:srgbClr val="F4F4ED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Understanding the Problem Statement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13339" y="4841355"/>
              <a:ext cx="11827300" cy="69387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36"/>
                </a:lnSpc>
              </a:pPr>
              <a:r>
                <a:rPr lang="en-US" sz="1952" spc="117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Problem Statement:</a:t>
              </a:r>
            </a:p>
            <a:p>
              <a:pPr algn="l">
                <a:lnSpc>
                  <a:spcPts val="2636"/>
                </a:lnSpc>
              </a:pPr>
              <a:endParaRPr lang="en-US" sz="1952" spc="117">
                <a:solidFill>
                  <a:srgbClr val="FFFFFF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algn="l">
                <a:lnSpc>
                  <a:spcPts val="2636"/>
                </a:lnSpc>
              </a:pPr>
              <a:r>
                <a:rPr lang="en-US" sz="1952" spc="117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Managing flight information manually can be difficult and time-consuming.</a:t>
              </a:r>
            </a:p>
            <a:p>
              <a:pPr algn="l">
                <a:lnSpc>
                  <a:spcPts val="2636"/>
                </a:lnSpc>
              </a:pPr>
              <a:endParaRPr lang="en-US" sz="1952" spc="117">
                <a:solidFill>
                  <a:srgbClr val="FFFFFF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algn="l">
                <a:lnSpc>
                  <a:spcPts val="2636"/>
                </a:lnSpc>
              </a:pPr>
              <a:r>
                <a:rPr lang="en-US" sz="1952" spc="117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Our Solution:</a:t>
              </a:r>
            </a:p>
            <a:p>
              <a:pPr marL="421596" lvl="1" indent="-210798" algn="l">
                <a:lnSpc>
                  <a:spcPts val="2636"/>
                </a:lnSpc>
                <a:buFont typeface="Arial"/>
                <a:buChar char="•"/>
              </a:pPr>
              <a:r>
                <a:rPr lang="en-US" sz="1952" spc="117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Display flight arrivals and departures.</a:t>
              </a:r>
            </a:p>
            <a:p>
              <a:pPr marL="421596" lvl="1" indent="-210798" algn="l">
                <a:lnSpc>
                  <a:spcPts val="2636"/>
                </a:lnSpc>
                <a:buFont typeface="Arial"/>
                <a:buChar char="•"/>
              </a:pPr>
              <a:r>
                <a:rPr lang="en-US" sz="1952" spc="117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Search flights using flight details.</a:t>
              </a:r>
            </a:p>
            <a:p>
              <a:pPr marL="421596" lvl="1" indent="-210798" algn="l">
                <a:lnSpc>
                  <a:spcPts val="2636"/>
                </a:lnSpc>
                <a:buFont typeface="Arial"/>
                <a:buChar char="•"/>
              </a:pPr>
              <a:r>
                <a:rPr lang="en-US" sz="1952" spc="117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View available destinations.</a:t>
              </a:r>
            </a:p>
            <a:p>
              <a:pPr marL="421596" lvl="1" indent="-210798" algn="l">
                <a:lnSpc>
                  <a:spcPts val="2636"/>
                </a:lnSpc>
                <a:buFont typeface="Arial"/>
                <a:buChar char="•"/>
              </a:pPr>
              <a:r>
                <a:rPr lang="en-US" sz="1952" spc="117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Sort flight information.</a:t>
              </a:r>
            </a:p>
            <a:p>
              <a:pPr marL="421596" lvl="1" indent="-210798" algn="l">
                <a:lnSpc>
                  <a:spcPts val="2636"/>
                </a:lnSpc>
                <a:buFont typeface="Arial"/>
                <a:buChar char="•"/>
              </a:pPr>
              <a:r>
                <a:rPr lang="en-US" sz="1952" spc="117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Display flight status statistics.</a:t>
              </a:r>
            </a:p>
            <a:p>
              <a:pPr marL="421596" lvl="1" indent="-210798" algn="l">
                <a:lnSpc>
                  <a:spcPts val="2636"/>
                </a:lnSpc>
                <a:buFont typeface="Arial"/>
                <a:buChar char="•"/>
              </a:pPr>
              <a:r>
                <a:rPr lang="en-US" sz="1952" spc="117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Save flight details to a text file.</a:t>
              </a:r>
            </a:p>
            <a:p>
              <a:pPr algn="l">
                <a:lnSpc>
                  <a:spcPts val="2636"/>
                </a:lnSpc>
              </a:pPr>
              <a:endParaRPr lang="en-US" sz="1952" spc="117">
                <a:solidFill>
                  <a:srgbClr val="FFFFFF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algn="l">
                <a:lnSpc>
                  <a:spcPts val="2636"/>
                </a:lnSpc>
              </a:pPr>
              <a:r>
                <a:rPr lang="en-US" sz="1952" spc="117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Objective: To develop a simple and user-friendly flight information management system using Java.</a:t>
              </a:r>
            </a:p>
            <a:p>
              <a:pPr marL="0" lvl="0" indent="0" algn="l">
                <a:lnSpc>
                  <a:spcPts val="2504"/>
                </a:lnSpc>
                <a:spcBef>
                  <a:spcPct val="0"/>
                </a:spcBef>
              </a:pPr>
              <a:endParaRPr lang="en-US" sz="1952" spc="117">
                <a:solidFill>
                  <a:srgbClr val="FFFFFF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  <p:sp>
        <p:nvSpPr>
          <p:cNvPr id="10" name="Freeform 10"/>
          <p:cNvSpPr/>
          <p:nvPr/>
        </p:nvSpPr>
        <p:spPr>
          <a:xfrm>
            <a:off x="12271832" y="7270926"/>
            <a:ext cx="896420" cy="896420"/>
          </a:xfrm>
          <a:custGeom>
            <a:avLst/>
            <a:gdLst/>
            <a:ahLst/>
            <a:cxnLst/>
            <a:rect l="l" t="t" r="r" b="b"/>
            <a:pathLst>
              <a:path w="896420" h="896420">
                <a:moveTo>
                  <a:pt x="0" y="0"/>
                </a:moveTo>
                <a:lnTo>
                  <a:pt x="896421" y="0"/>
                </a:lnTo>
                <a:lnTo>
                  <a:pt x="896421" y="896421"/>
                </a:lnTo>
                <a:lnTo>
                  <a:pt x="0" y="8964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259" b="-9259"/>
            </a:stretch>
          </a:blipFill>
        </p:spPr>
      </p:sp>
      <p:sp>
        <p:nvSpPr>
          <p:cNvPr id="3" name="Freeform 3"/>
          <p:cNvSpPr/>
          <p:nvPr/>
        </p:nvSpPr>
        <p:spPr>
          <a:xfrm rot="6626729">
            <a:off x="11878550" y="2429250"/>
            <a:ext cx="12221289" cy="8822969"/>
          </a:xfrm>
          <a:custGeom>
            <a:avLst/>
            <a:gdLst/>
            <a:ahLst/>
            <a:cxnLst/>
            <a:rect l="l" t="t" r="r" b="b"/>
            <a:pathLst>
              <a:path w="12221289" h="8822969">
                <a:moveTo>
                  <a:pt x="0" y="0"/>
                </a:moveTo>
                <a:lnTo>
                  <a:pt x="12221289" y="0"/>
                </a:lnTo>
                <a:lnTo>
                  <a:pt x="12221289" y="8822969"/>
                </a:lnTo>
                <a:lnTo>
                  <a:pt x="0" y="8822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280948" y="1655578"/>
            <a:ext cx="13871407" cy="7745478"/>
            <a:chOff x="0" y="-192881"/>
            <a:chExt cx="18495210" cy="10327303"/>
          </a:xfrm>
        </p:grpSpPr>
        <p:grpSp>
          <p:nvGrpSpPr>
            <p:cNvPr id="5" name="Group 5"/>
            <p:cNvGrpSpPr/>
            <p:nvPr/>
          </p:nvGrpSpPr>
          <p:grpSpPr>
            <a:xfrm>
              <a:off x="0" y="-192881"/>
              <a:ext cx="18495210" cy="10327303"/>
              <a:chOff x="0" y="-38100"/>
              <a:chExt cx="3653375" cy="2039961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5161" y="0"/>
                <a:ext cx="3648214" cy="2001861"/>
              </a:xfrm>
              <a:custGeom>
                <a:avLst/>
                <a:gdLst/>
                <a:ahLst/>
                <a:cxnLst/>
                <a:rect l="l" t="t" r="r" b="b"/>
                <a:pathLst>
                  <a:path w="3648214" h="2001861">
                    <a:moveTo>
                      <a:pt x="11178" y="0"/>
                    </a:moveTo>
                    <a:lnTo>
                      <a:pt x="3637035" y="0"/>
                    </a:lnTo>
                    <a:cubicBezTo>
                      <a:pt x="3643209" y="0"/>
                      <a:pt x="3648214" y="5005"/>
                      <a:pt x="3648214" y="11178"/>
                    </a:cubicBezTo>
                    <a:lnTo>
                      <a:pt x="3648214" y="1990683"/>
                    </a:lnTo>
                    <a:cubicBezTo>
                      <a:pt x="3648214" y="1996856"/>
                      <a:pt x="3643209" y="2001861"/>
                      <a:pt x="3637035" y="2001861"/>
                    </a:cubicBezTo>
                    <a:lnTo>
                      <a:pt x="11178" y="2001861"/>
                    </a:lnTo>
                    <a:cubicBezTo>
                      <a:pt x="5005" y="2001861"/>
                      <a:pt x="0" y="1996856"/>
                      <a:pt x="0" y="1990683"/>
                    </a:cubicBezTo>
                    <a:lnTo>
                      <a:pt x="0" y="11178"/>
                    </a:lnTo>
                    <a:cubicBezTo>
                      <a:pt x="0" y="5005"/>
                      <a:pt x="5005" y="0"/>
                      <a:pt x="11178" y="0"/>
                    </a:cubicBezTo>
                    <a:close/>
                  </a:path>
                </a:pathLst>
              </a:custGeom>
              <a:solidFill>
                <a:srgbClr val="04001E"/>
              </a:solidFill>
              <a:ln w="38100" cap="sq">
                <a:solidFill>
                  <a:srgbClr val="E5E1DA"/>
                </a:solidFill>
                <a:prstDash val="solid"/>
                <a:miter/>
              </a:ln>
            </p:spPr>
          </p:sp>
          <p:sp>
            <p:nvSpPr>
              <p:cNvPr id="7" name="TextBox 7"/>
              <p:cNvSpPr txBox="1"/>
              <p:nvPr/>
            </p:nvSpPr>
            <p:spPr>
              <a:xfrm>
                <a:off x="0" y="-38100"/>
                <a:ext cx="3648214" cy="203996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8" name="TextBox 8"/>
            <p:cNvSpPr txBox="1"/>
            <p:nvPr/>
          </p:nvSpPr>
          <p:spPr>
            <a:xfrm>
              <a:off x="1282925" y="963395"/>
              <a:ext cx="15921357" cy="156367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8342"/>
                </a:lnSpc>
              </a:pPr>
              <a:r>
                <a:rPr lang="en-US" sz="8600">
                  <a:solidFill>
                    <a:srgbClr val="F4F4ED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Topics Used in CO1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11223" y="2719946"/>
              <a:ext cx="12752760" cy="51047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104"/>
                </a:lnSpc>
              </a:pPr>
              <a:r>
                <a:rPr lang="en-US" sz="2299" spc="137" dirty="0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Java Fundamentals</a:t>
              </a:r>
            </a:p>
            <a:p>
              <a:pPr marL="496567" lvl="1" indent="-248284" algn="l">
                <a:lnSpc>
                  <a:spcPts val="3104"/>
                </a:lnSpc>
                <a:buFont typeface="Arial"/>
                <a:buChar char="•"/>
              </a:pPr>
              <a:r>
                <a:rPr lang="en-US" sz="2299" spc="137" dirty="0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Variables and data types</a:t>
              </a:r>
            </a:p>
            <a:p>
              <a:pPr marL="496567" lvl="1" indent="-248284" algn="l">
                <a:lnSpc>
                  <a:spcPts val="3104"/>
                </a:lnSpc>
                <a:buFont typeface="Arial"/>
                <a:buChar char="•"/>
              </a:pPr>
              <a:r>
                <a:rPr lang="en-US" sz="2299" spc="137" dirty="0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Input using Scanner</a:t>
              </a:r>
            </a:p>
            <a:p>
              <a:pPr marL="496567" lvl="1" indent="-248284" algn="l">
                <a:lnSpc>
                  <a:spcPts val="3104"/>
                </a:lnSpc>
                <a:buFont typeface="Arial"/>
                <a:buChar char="•"/>
              </a:pPr>
              <a:r>
                <a:rPr lang="en-US" sz="2299" spc="137" dirty="0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Output using print and </a:t>
              </a:r>
              <a:r>
                <a:rPr lang="en-US" sz="2299" spc="137" dirty="0" err="1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println</a:t>
              </a:r>
              <a:endParaRPr lang="en-US" sz="2299" spc="137" dirty="0">
                <a:solidFill>
                  <a:srgbClr val="FFFFFF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marL="496567" lvl="1" indent="-248284" algn="l">
                <a:lnSpc>
                  <a:spcPts val="3104"/>
                </a:lnSpc>
                <a:buFont typeface="Arial"/>
                <a:buChar char="•"/>
              </a:pPr>
              <a:r>
                <a:rPr lang="en-US" sz="2299" spc="137" dirty="0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Basic operators</a:t>
              </a:r>
            </a:p>
            <a:p>
              <a:pPr marL="496567" lvl="1" indent="-248284" algn="l">
                <a:lnSpc>
                  <a:spcPts val="3104"/>
                </a:lnSpc>
                <a:buFont typeface="Arial"/>
                <a:buChar char="•"/>
              </a:pPr>
              <a:r>
                <a:rPr lang="en-US" sz="2299" spc="137" dirty="0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Storing flight information</a:t>
              </a:r>
            </a:p>
            <a:p>
              <a:pPr algn="l">
                <a:lnSpc>
                  <a:spcPts val="3104"/>
                </a:lnSpc>
              </a:pPr>
              <a:r>
                <a:rPr lang="en-US" sz="2299" spc="137" dirty="0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Application in Our Project:</a:t>
              </a:r>
            </a:p>
            <a:p>
              <a:pPr algn="l">
                <a:lnSpc>
                  <a:spcPts val="3104"/>
                </a:lnSpc>
              </a:pPr>
              <a:r>
                <a:rPr lang="en-US" sz="2299" spc="137" dirty="0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These concepts are used to store flight details and display information to the user.</a:t>
              </a:r>
            </a:p>
            <a:p>
              <a:pPr marL="0" lvl="0" indent="0" algn="l">
                <a:lnSpc>
                  <a:spcPts val="2699"/>
                </a:lnSpc>
                <a:spcBef>
                  <a:spcPct val="0"/>
                </a:spcBef>
              </a:pPr>
              <a:endParaRPr lang="en-US" sz="2299" spc="137" dirty="0">
                <a:solidFill>
                  <a:srgbClr val="FFFFFF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  <p:sp>
        <p:nvSpPr>
          <p:cNvPr id="10" name="Freeform 10"/>
          <p:cNvSpPr/>
          <p:nvPr/>
        </p:nvSpPr>
        <p:spPr>
          <a:xfrm>
            <a:off x="16801096" y="8952846"/>
            <a:ext cx="896420" cy="896420"/>
          </a:xfrm>
          <a:custGeom>
            <a:avLst/>
            <a:gdLst/>
            <a:ahLst/>
            <a:cxnLst/>
            <a:rect l="l" t="t" r="r" b="b"/>
            <a:pathLst>
              <a:path w="896420" h="896420">
                <a:moveTo>
                  <a:pt x="0" y="0"/>
                </a:moveTo>
                <a:lnTo>
                  <a:pt x="896421" y="0"/>
                </a:lnTo>
                <a:lnTo>
                  <a:pt x="896421" y="896420"/>
                </a:lnTo>
                <a:lnTo>
                  <a:pt x="0" y="89642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D5D9ABF-7C8F-AB23-1444-513081F23C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4942" y="3871767"/>
            <a:ext cx="4239217" cy="222916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259" b="-9259"/>
            </a:stretch>
          </a:blipFill>
        </p:spPr>
      </p:sp>
      <p:sp>
        <p:nvSpPr>
          <p:cNvPr id="3" name="Freeform 3"/>
          <p:cNvSpPr/>
          <p:nvPr/>
        </p:nvSpPr>
        <p:spPr>
          <a:xfrm rot="6626729">
            <a:off x="11878550" y="2429250"/>
            <a:ext cx="12221289" cy="8822969"/>
          </a:xfrm>
          <a:custGeom>
            <a:avLst/>
            <a:gdLst/>
            <a:ahLst/>
            <a:cxnLst/>
            <a:rect l="l" t="t" r="r" b="b"/>
            <a:pathLst>
              <a:path w="12221289" h="8822969">
                <a:moveTo>
                  <a:pt x="0" y="0"/>
                </a:moveTo>
                <a:lnTo>
                  <a:pt x="12221289" y="0"/>
                </a:lnTo>
                <a:lnTo>
                  <a:pt x="12221289" y="8822969"/>
                </a:lnTo>
                <a:lnTo>
                  <a:pt x="0" y="8822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353019" y="1675028"/>
            <a:ext cx="13851811" cy="6936943"/>
            <a:chOff x="0" y="0"/>
            <a:chExt cx="18469082" cy="9249257"/>
          </a:xfrm>
        </p:grpSpPr>
        <p:grpSp>
          <p:nvGrpSpPr>
            <p:cNvPr id="5" name="Group 5"/>
            <p:cNvGrpSpPr/>
            <p:nvPr/>
          </p:nvGrpSpPr>
          <p:grpSpPr>
            <a:xfrm>
              <a:off x="0" y="0"/>
              <a:ext cx="18469082" cy="9249257"/>
              <a:chOff x="0" y="0"/>
              <a:chExt cx="3648214" cy="1827014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3648214" cy="1827014"/>
              </a:xfrm>
              <a:custGeom>
                <a:avLst/>
                <a:gdLst/>
                <a:ahLst/>
                <a:cxnLst/>
                <a:rect l="l" t="t" r="r" b="b"/>
                <a:pathLst>
                  <a:path w="3648214" h="1827014">
                    <a:moveTo>
                      <a:pt x="11178" y="0"/>
                    </a:moveTo>
                    <a:lnTo>
                      <a:pt x="3637035" y="0"/>
                    </a:lnTo>
                    <a:cubicBezTo>
                      <a:pt x="3643209" y="0"/>
                      <a:pt x="3648214" y="5005"/>
                      <a:pt x="3648214" y="11178"/>
                    </a:cubicBezTo>
                    <a:lnTo>
                      <a:pt x="3648214" y="1815836"/>
                    </a:lnTo>
                    <a:cubicBezTo>
                      <a:pt x="3648214" y="1822009"/>
                      <a:pt x="3643209" y="1827014"/>
                      <a:pt x="3637035" y="1827014"/>
                    </a:cubicBezTo>
                    <a:lnTo>
                      <a:pt x="11178" y="1827014"/>
                    </a:lnTo>
                    <a:cubicBezTo>
                      <a:pt x="5005" y="1827014"/>
                      <a:pt x="0" y="1822009"/>
                      <a:pt x="0" y="1815836"/>
                    </a:cubicBezTo>
                    <a:lnTo>
                      <a:pt x="0" y="11178"/>
                    </a:lnTo>
                    <a:cubicBezTo>
                      <a:pt x="0" y="5005"/>
                      <a:pt x="5005" y="0"/>
                      <a:pt x="11178" y="0"/>
                    </a:cubicBezTo>
                    <a:close/>
                  </a:path>
                </a:pathLst>
              </a:custGeom>
              <a:solidFill>
                <a:srgbClr val="04001E"/>
              </a:solidFill>
              <a:ln w="38100" cap="sq">
                <a:solidFill>
                  <a:srgbClr val="E5E1DA"/>
                </a:solidFill>
                <a:prstDash val="solid"/>
                <a:miter/>
              </a:ln>
            </p:spPr>
          </p:sp>
          <p:sp>
            <p:nvSpPr>
              <p:cNvPr id="7" name="TextBox 7"/>
              <p:cNvSpPr txBox="1"/>
              <p:nvPr/>
            </p:nvSpPr>
            <p:spPr>
              <a:xfrm>
                <a:off x="0" y="-38100"/>
                <a:ext cx="3648214" cy="186511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8" name="TextBox 8"/>
            <p:cNvSpPr txBox="1"/>
            <p:nvPr/>
          </p:nvSpPr>
          <p:spPr>
            <a:xfrm>
              <a:off x="1018665" y="1203631"/>
              <a:ext cx="16089522" cy="156367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8342"/>
                </a:lnSpc>
              </a:pPr>
              <a:r>
                <a:rPr lang="en-US" sz="8600">
                  <a:solidFill>
                    <a:srgbClr val="F4F4ED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Topics Used in CO2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18665" y="2992336"/>
              <a:ext cx="13761754" cy="455398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69"/>
                </a:lnSpc>
              </a:pPr>
              <a:r>
                <a:rPr lang="en-US" sz="2199" spc="131" dirty="0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Control Statements</a:t>
              </a:r>
            </a:p>
            <a:p>
              <a:pPr marL="474978" lvl="1" indent="-237489" algn="l">
                <a:lnSpc>
                  <a:spcPts val="2969"/>
                </a:lnSpc>
                <a:buFont typeface="Arial"/>
                <a:buChar char="•"/>
              </a:pPr>
              <a:r>
                <a:rPr lang="en-US" sz="2199" spc="131" dirty="0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If-else statements</a:t>
              </a:r>
            </a:p>
            <a:p>
              <a:pPr marL="474978" lvl="1" indent="-237489" algn="l">
                <a:lnSpc>
                  <a:spcPts val="2969"/>
                </a:lnSpc>
                <a:buFont typeface="Arial"/>
                <a:buChar char="•"/>
              </a:pPr>
              <a:r>
                <a:rPr lang="en-US" sz="2199" spc="131" dirty="0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Switch statements</a:t>
              </a:r>
            </a:p>
            <a:p>
              <a:pPr marL="474978" lvl="1" indent="-237489" algn="l">
                <a:lnSpc>
                  <a:spcPts val="2969"/>
                </a:lnSpc>
                <a:buFont typeface="Arial"/>
                <a:buChar char="•"/>
              </a:pPr>
              <a:r>
                <a:rPr lang="en-US" sz="2199" spc="131" dirty="0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For and while loops</a:t>
              </a:r>
            </a:p>
            <a:p>
              <a:pPr marL="474978" lvl="1" indent="-237489" algn="l">
                <a:lnSpc>
                  <a:spcPts val="2969"/>
                </a:lnSpc>
                <a:buFont typeface="Arial"/>
                <a:buChar char="•"/>
              </a:pPr>
              <a:r>
                <a:rPr lang="en-US" sz="2199" spc="131" dirty="0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Conditional checking</a:t>
              </a:r>
            </a:p>
            <a:p>
              <a:pPr algn="l">
                <a:lnSpc>
                  <a:spcPts val="2969"/>
                </a:lnSpc>
              </a:pPr>
              <a:r>
                <a:rPr lang="en-US" sz="2199" spc="131" dirty="0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Application in Our Project:</a:t>
              </a:r>
            </a:p>
            <a:p>
              <a:pPr algn="l">
                <a:lnSpc>
                  <a:spcPts val="2969"/>
                </a:lnSpc>
              </a:pPr>
              <a:r>
                <a:rPr lang="en-US" sz="2199" spc="131" dirty="0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Control statements help users select menu options and display flights based on their status, such as Arrived, Delayed, Boarding, or Scheduled.</a:t>
              </a:r>
            </a:p>
            <a:p>
              <a:pPr marL="0" lvl="0" indent="0" algn="l">
                <a:lnSpc>
                  <a:spcPts val="2699"/>
                </a:lnSpc>
                <a:spcBef>
                  <a:spcPct val="0"/>
                </a:spcBef>
              </a:pPr>
              <a:endParaRPr lang="en-US" sz="2199" spc="131" dirty="0">
                <a:solidFill>
                  <a:srgbClr val="FFFFFF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  <p:sp>
        <p:nvSpPr>
          <p:cNvPr id="10" name="Freeform 10"/>
          <p:cNvSpPr/>
          <p:nvPr/>
        </p:nvSpPr>
        <p:spPr>
          <a:xfrm>
            <a:off x="13100648" y="7342997"/>
            <a:ext cx="896420" cy="896420"/>
          </a:xfrm>
          <a:custGeom>
            <a:avLst/>
            <a:gdLst/>
            <a:ahLst/>
            <a:cxnLst/>
            <a:rect l="l" t="t" r="r" b="b"/>
            <a:pathLst>
              <a:path w="896420" h="896420">
                <a:moveTo>
                  <a:pt x="0" y="0"/>
                </a:moveTo>
                <a:lnTo>
                  <a:pt x="896420" y="0"/>
                </a:lnTo>
                <a:lnTo>
                  <a:pt x="896420" y="896421"/>
                </a:lnTo>
                <a:lnTo>
                  <a:pt x="0" y="8964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2669ED3-A3C2-B7B0-B3CA-487D4F2558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73950" y="3546726"/>
            <a:ext cx="3849623" cy="341548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259" b="-9259"/>
            </a:stretch>
          </a:blipFill>
        </p:spPr>
      </p:sp>
      <p:sp>
        <p:nvSpPr>
          <p:cNvPr id="3" name="Freeform 3"/>
          <p:cNvSpPr/>
          <p:nvPr/>
        </p:nvSpPr>
        <p:spPr>
          <a:xfrm rot="6626729">
            <a:off x="11878550" y="2429250"/>
            <a:ext cx="12221289" cy="8822969"/>
          </a:xfrm>
          <a:custGeom>
            <a:avLst/>
            <a:gdLst/>
            <a:ahLst/>
            <a:cxnLst/>
            <a:rect l="l" t="t" r="r" b="b"/>
            <a:pathLst>
              <a:path w="12221289" h="8822969">
                <a:moveTo>
                  <a:pt x="0" y="0"/>
                </a:moveTo>
                <a:lnTo>
                  <a:pt x="12221289" y="0"/>
                </a:lnTo>
                <a:lnTo>
                  <a:pt x="12221289" y="8822969"/>
                </a:lnTo>
                <a:lnTo>
                  <a:pt x="0" y="8822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028700" y="839176"/>
            <a:ext cx="13851811" cy="8715650"/>
            <a:chOff x="0" y="0"/>
            <a:chExt cx="18469082" cy="11620867"/>
          </a:xfrm>
        </p:grpSpPr>
        <p:grpSp>
          <p:nvGrpSpPr>
            <p:cNvPr id="5" name="Group 5"/>
            <p:cNvGrpSpPr/>
            <p:nvPr/>
          </p:nvGrpSpPr>
          <p:grpSpPr>
            <a:xfrm>
              <a:off x="0" y="0"/>
              <a:ext cx="18469082" cy="11620867"/>
              <a:chOff x="0" y="0"/>
              <a:chExt cx="3648214" cy="229548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3648214" cy="2295480"/>
              </a:xfrm>
              <a:custGeom>
                <a:avLst/>
                <a:gdLst/>
                <a:ahLst/>
                <a:cxnLst/>
                <a:rect l="l" t="t" r="r" b="b"/>
                <a:pathLst>
                  <a:path w="3648214" h="2295480">
                    <a:moveTo>
                      <a:pt x="11178" y="0"/>
                    </a:moveTo>
                    <a:lnTo>
                      <a:pt x="3637035" y="0"/>
                    </a:lnTo>
                    <a:cubicBezTo>
                      <a:pt x="3643209" y="0"/>
                      <a:pt x="3648214" y="5005"/>
                      <a:pt x="3648214" y="11178"/>
                    </a:cubicBezTo>
                    <a:lnTo>
                      <a:pt x="3648214" y="2284302"/>
                    </a:lnTo>
                    <a:cubicBezTo>
                      <a:pt x="3648214" y="2290475"/>
                      <a:pt x="3643209" y="2295480"/>
                      <a:pt x="3637035" y="2295480"/>
                    </a:cubicBezTo>
                    <a:lnTo>
                      <a:pt x="11178" y="2295480"/>
                    </a:lnTo>
                    <a:cubicBezTo>
                      <a:pt x="5005" y="2295480"/>
                      <a:pt x="0" y="2290475"/>
                      <a:pt x="0" y="2284302"/>
                    </a:cubicBezTo>
                    <a:lnTo>
                      <a:pt x="0" y="11178"/>
                    </a:lnTo>
                    <a:cubicBezTo>
                      <a:pt x="0" y="5005"/>
                      <a:pt x="5005" y="0"/>
                      <a:pt x="11178" y="0"/>
                    </a:cubicBezTo>
                    <a:close/>
                  </a:path>
                </a:pathLst>
              </a:custGeom>
              <a:solidFill>
                <a:srgbClr val="04001E"/>
              </a:solidFill>
              <a:ln w="38100" cap="sq">
                <a:solidFill>
                  <a:srgbClr val="E5E1DA"/>
                </a:solidFill>
                <a:prstDash val="solid"/>
                <a:miter/>
              </a:ln>
            </p:spPr>
          </p:sp>
          <p:sp>
            <p:nvSpPr>
              <p:cNvPr id="7" name="TextBox 7"/>
              <p:cNvSpPr txBox="1"/>
              <p:nvPr/>
            </p:nvSpPr>
            <p:spPr>
              <a:xfrm>
                <a:off x="0" y="-38100"/>
                <a:ext cx="3648214" cy="233358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8" name="TextBox 8"/>
            <p:cNvSpPr txBox="1"/>
            <p:nvPr/>
          </p:nvSpPr>
          <p:spPr>
            <a:xfrm>
              <a:off x="1282925" y="1812387"/>
              <a:ext cx="15585026" cy="156367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8342"/>
                </a:lnSpc>
              </a:pPr>
              <a:r>
                <a:rPr lang="en-US" sz="8600">
                  <a:solidFill>
                    <a:srgbClr val="F4F4ED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Topics used in CO3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82925" y="4353988"/>
              <a:ext cx="12752761" cy="587819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239"/>
                </a:lnSpc>
              </a:pPr>
              <a:r>
                <a:rPr lang="en-US" sz="2399" spc="143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Methods, Arrays and Searching</a:t>
              </a:r>
            </a:p>
            <a:p>
              <a:pPr marL="518157" lvl="1" indent="-259078" algn="l">
                <a:lnSpc>
                  <a:spcPts val="3239"/>
                </a:lnSpc>
                <a:buFont typeface="Arial"/>
                <a:buChar char="•"/>
              </a:pPr>
              <a:r>
                <a:rPr lang="en-US" sz="2399" spc="143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Creating and calling methods</a:t>
              </a:r>
            </a:p>
            <a:p>
              <a:pPr marL="518157" lvl="1" indent="-259078" algn="l">
                <a:lnSpc>
                  <a:spcPts val="3239"/>
                </a:lnSpc>
                <a:buFont typeface="Arial"/>
                <a:buChar char="•"/>
              </a:pPr>
              <a:r>
                <a:rPr lang="en-US" sz="2399" spc="143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Storing multiple flight records</a:t>
              </a:r>
            </a:p>
            <a:p>
              <a:pPr marL="518157" lvl="1" indent="-259078" algn="l">
                <a:lnSpc>
                  <a:spcPts val="3239"/>
                </a:lnSpc>
                <a:buFont typeface="Arial"/>
                <a:buChar char="•"/>
              </a:pPr>
              <a:r>
                <a:rPr lang="en-US" sz="2399" spc="143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Searching for a particular flight</a:t>
              </a:r>
            </a:p>
            <a:p>
              <a:pPr marL="518157" lvl="1" indent="-259078" algn="l">
                <a:lnSpc>
                  <a:spcPts val="3239"/>
                </a:lnSpc>
                <a:buFont typeface="Arial"/>
                <a:buChar char="•"/>
              </a:pPr>
              <a:r>
                <a:rPr lang="en-US" sz="2399" spc="143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Displaying flight information</a:t>
              </a:r>
            </a:p>
            <a:p>
              <a:pPr marL="518157" lvl="1" indent="-259078" algn="l">
                <a:lnSpc>
                  <a:spcPts val="3239"/>
                </a:lnSpc>
                <a:buFont typeface="Arial"/>
                <a:buChar char="•"/>
              </a:pPr>
              <a:r>
                <a:rPr lang="en-US" sz="2399" spc="143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Reusing code through methods</a:t>
              </a:r>
            </a:p>
            <a:p>
              <a:pPr algn="l">
                <a:lnSpc>
                  <a:spcPts val="3239"/>
                </a:lnSpc>
              </a:pPr>
              <a:r>
                <a:rPr lang="en-US" sz="2399" spc="143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Application in Our Project:</a:t>
              </a:r>
            </a:p>
            <a:p>
              <a:pPr algn="l">
                <a:lnSpc>
                  <a:spcPts val="3239"/>
                </a:lnSpc>
              </a:pPr>
              <a:r>
                <a:rPr lang="en-US" sz="2399" spc="143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Methods organize the program into smaller parts, while arrays store flight records and searching helps users find specific flights.</a:t>
              </a:r>
            </a:p>
            <a:p>
              <a:pPr marL="0" lvl="0" indent="0" algn="l">
                <a:lnSpc>
                  <a:spcPts val="2699"/>
                </a:lnSpc>
                <a:spcBef>
                  <a:spcPct val="0"/>
                </a:spcBef>
              </a:pPr>
              <a:endParaRPr lang="en-US" sz="2399" spc="143">
                <a:solidFill>
                  <a:srgbClr val="FFFFFF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  <p:sp>
        <p:nvSpPr>
          <p:cNvPr id="10" name="Freeform 10"/>
          <p:cNvSpPr/>
          <p:nvPr/>
        </p:nvSpPr>
        <p:spPr>
          <a:xfrm>
            <a:off x="12271832" y="7270926"/>
            <a:ext cx="896420" cy="896420"/>
          </a:xfrm>
          <a:custGeom>
            <a:avLst/>
            <a:gdLst/>
            <a:ahLst/>
            <a:cxnLst/>
            <a:rect l="l" t="t" r="r" b="b"/>
            <a:pathLst>
              <a:path w="896420" h="896420">
                <a:moveTo>
                  <a:pt x="0" y="0"/>
                </a:moveTo>
                <a:lnTo>
                  <a:pt x="896421" y="0"/>
                </a:lnTo>
                <a:lnTo>
                  <a:pt x="896421" y="896421"/>
                </a:lnTo>
                <a:lnTo>
                  <a:pt x="0" y="8964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9DF5099-7683-72F5-08C0-A1613DE552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63000" y="3811992"/>
            <a:ext cx="4801270" cy="257210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259" b="-9259"/>
            </a:stretch>
          </a:blipFill>
        </p:spPr>
      </p:sp>
      <p:sp>
        <p:nvSpPr>
          <p:cNvPr id="3" name="Freeform 3"/>
          <p:cNvSpPr/>
          <p:nvPr/>
        </p:nvSpPr>
        <p:spPr>
          <a:xfrm rot="6626729">
            <a:off x="11878550" y="2429250"/>
            <a:ext cx="12221289" cy="8822969"/>
          </a:xfrm>
          <a:custGeom>
            <a:avLst/>
            <a:gdLst/>
            <a:ahLst/>
            <a:cxnLst/>
            <a:rect l="l" t="t" r="r" b="b"/>
            <a:pathLst>
              <a:path w="12221289" h="8822969">
                <a:moveTo>
                  <a:pt x="0" y="0"/>
                </a:moveTo>
                <a:lnTo>
                  <a:pt x="12221289" y="0"/>
                </a:lnTo>
                <a:lnTo>
                  <a:pt x="12221289" y="8822969"/>
                </a:lnTo>
                <a:lnTo>
                  <a:pt x="0" y="8822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028700" y="1830151"/>
            <a:ext cx="13851811" cy="8071845"/>
            <a:chOff x="0" y="0"/>
            <a:chExt cx="18469082" cy="10762459"/>
          </a:xfrm>
        </p:grpSpPr>
        <p:grpSp>
          <p:nvGrpSpPr>
            <p:cNvPr id="5" name="Group 5"/>
            <p:cNvGrpSpPr/>
            <p:nvPr/>
          </p:nvGrpSpPr>
          <p:grpSpPr>
            <a:xfrm>
              <a:off x="0" y="0"/>
              <a:ext cx="18469082" cy="10762459"/>
              <a:chOff x="0" y="0"/>
              <a:chExt cx="3648214" cy="2125918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3648214" cy="2125918"/>
              </a:xfrm>
              <a:custGeom>
                <a:avLst/>
                <a:gdLst/>
                <a:ahLst/>
                <a:cxnLst/>
                <a:rect l="l" t="t" r="r" b="b"/>
                <a:pathLst>
                  <a:path w="3648214" h="2125918">
                    <a:moveTo>
                      <a:pt x="11178" y="0"/>
                    </a:moveTo>
                    <a:lnTo>
                      <a:pt x="3637035" y="0"/>
                    </a:lnTo>
                    <a:cubicBezTo>
                      <a:pt x="3643209" y="0"/>
                      <a:pt x="3648214" y="5005"/>
                      <a:pt x="3648214" y="11178"/>
                    </a:cubicBezTo>
                    <a:lnTo>
                      <a:pt x="3648214" y="2114740"/>
                    </a:lnTo>
                    <a:cubicBezTo>
                      <a:pt x="3648214" y="2120913"/>
                      <a:pt x="3643209" y="2125918"/>
                      <a:pt x="3637035" y="2125918"/>
                    </a:cubicBezTo>
                    <a:lnTo>
                      <a:pt x="11178" y="2125918"/>
                    </a:lnTo>
                    <a:cubicBezTo>
                      <a:pt x="5005" y="2125918"/>
                      <a:pt x="0" y="2120913"/>
                      <a:pt x="0" y="2114740"/>
                    </a:cubicBezTo>
                    <a:lnTo>
                      <a:pt x="0" y="11178"/>
                    </a:lnTo>
                    <a:cubicBezTo>
                      <a:pt x="0" y="5005"/>
                      <a:pt x="5005" y="0"/>
                      <a:pt x="11178" y="0"/>
                    </a:cubicBezTo>
                    <a:close/>
                  </a:path>
                </a:pathLst>
              </a:custGeom>
              <a:solidFill>
                <a:srgbClr val="04001E"/>
              </a:solidFill>
              <a:ln w="38100" cap="sq">
                <a:solidFill>
                  <a:srgbClr val="E5E1DA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IN" dirty="0"/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0" y="-38100"/>
                <a:ext cx="3648214" cy="216401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8" name="TextBox 8"/>
            <p:cNvSpPr txBox="1"/>
            <p:nvPr/>
          </p:nvSpPr>
          <p:spPr>
            <a:xfrm>
              <a:off x="1282925" y="1860434"/>
              <a:ext cx="16257688" cy="156367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8342"/>
                </a:lnSpc>
              </a:pPr>
              <a:r>
                <a:rPr lang="en-US" sz="8600">
                  <a:solidFill>
                    <a:srgbClr val="F4F4ED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Topics used in CO 4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82925" y="4378012"/>
              <a:ext cx="12752761" cy="533209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239"/>
                </a:lnSpc>
              </a:pPr>
              <a:r>
                <a:rPr lang="en-US" sz="2399" spc="143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Object-Oriented Programming</a:t>
              </a:r>
            </a:p>
            <a:p>
              <a:pPr marL="518157" lvl="1" indent="-259078" algn="l">
                <a:lnSpc>
                  <a:spcPts val="3239"/>
                </a:lnSpc>
                <a:buFont typeface="Arial"/>
                <a:buChar char="•"/>
              </a:pPr>
              <a:r>
                <a:rPr lang="en-US" sz="2399" spc="143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Classes and objects</a:t>
              </a:r>
            </a:p>
            <a:p>
              <a:pPr marL="518157" lvl="1" indent="-259078" algn="l">
                <a:lnSpc>
                  <a:spcPts val="3239"/>
                </a:lnSpc>
                <a:buFont typeface="Arial"/>
                <a:buChar char="•"/>
              </a:pPr>
              <a:r>
                <a:rPr lang="en-US" sz="2399" spc="143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Constructors</a:t>
              </a:r>
            </a:p>
            <a:p>
              <a:pPr marL="518157" lvl="1" indent="-259078" algn="l">
                <a:lnSpc>
                  <a:spcPts val="3239"/>
                </a:lnSpc>
                <a:buFont typeface="Arial"/>
                <a:buChar char="•"/>
              </a:pPr>
              <a:r>
                <a:rPr lang="en-US" sz="2399" spc="143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Encapsulation</a:t>
              </a:r>
            </a:p>
            <a:p>
              <a:pPr marL="518157" lvl="1" indent="-259078" algn="l">
                <a:lnSpc>
                  <a:spcPts val="3239"/>
                </a:lnSpc>
                <a:buFont typeface="Arial"/>
                <a:buChar char="•"/>
              </a:pPr>
              <a:r>
                <a:rPr lang="en-US" sz="2399" spc="143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Exception handling</a:t>
              </a:r>
            </a:p>
            <a:p>
              <a:pPr algn="l">
                <a:lnSpc>
                  <a:spcPts val="3239"/>
                </a:lnSpc>
              </a:pPr>
              <a:r>
                <a:rPr lang="en-US" sz="2399" spc="143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Application in Our Project:</a:t>
              </a:r>
            </a:p>
            <a:p>
              <a:pPr algn="l">
                <a:lnSpc>
                  <a:spcPts val="3239"/>
                </a:lnSpc>
              </a:pPr>
              <a:r>
                <a:rPr lang="en-US" sz="2399" spc="143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Object-oriented concepts help organize flight information into structured objects. Constructors initialize data, and exception handling helps manage unexpected errors.</a:t>
              </a:r>
            </a:p>
            <a:p>
              <a:pPr marL="0" lvl="0" indent="0" algn="l">
                <a:lnSpc>
                  <a:spcPts val="2699"/>
                </a:lnSpc>
                <a:spcBef>
                  <a:spcPct val="0"/>
                </a:spcBef>
              </a:pPr>
              <a:endParaRPr lang="en-US" sz="2399" spc="143">
                <a:solidFill>
                  <a:srgbClr val="FFFFFF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  <p:sp>
        <p:nvSpPr>
          <p:cNvPr id="10" name="Freeform 10"/>
          <p:cNvSpPr/>
          <p:nvPr/>
        </p:nvSpPr>
        <p:spPr>
          <a:xfrm>
            <a:off x="16811090" y="8801100"/>
            <a:ext cx="896420" cy="896420"/>
          </a:xfrm>
          <a:custGeom>
            <a:avLst/>
            <a:gdLst/>
            <a:ahLst/>
            <a:cxnLst/>
            <a:rect l="l" t="t" r="r" b="b"/>
            <a:pathLst>
              <a:path w="896420" h="896420">
                <a:moveTo>
                  <a:pt x="0" y="0"/>
                </a:moveTo>
                <a:lnTo>
                  <a:pt x="896421" y="0"/>
                </a:lnTo>
                <a:lnTo>
                  <a:pt x="896421" y="896421"/>
                </a:lnTo>
                <a:lnTo>
                  <a:pt x="0" y="8964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A2E66F3-075E-525F-7890-C1415B2F5A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55464" y="4262503"/>
            <a:ext cx="5056136" cy="419434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259" b="-9259"/>
            </a:stretch>
          </a:blipFill>
        </p:spPr>
      </p:sp>
      <p:sp>
        <p:nvSpPr>
          <p:cNvPr id="3" name="Freeform 3"/>
          <p:cNvSpPr/>
          <p:nvPr/>
        </p:nvSpPr>
        <p:spPr>
          <a:xfrm rot="6626729">
            <a:off x="11878550" y="2429250"/>
            <a:ext cx="12221289" cy="8822969"/>
          </a:xfrm>
          <a:custGeom>
            <a:avLst/>
            <a:gdLst/>
            <a:ahLst/>
            <a:cxnLst/>
            <a:rect l="l" t="t" r="r" b="b"/>
            <a:pathLst>
              <a:path w="12221289" h="8822969">
                <a:moveTo>
                  <a:pt x="0" y="0"/>
                </a:moveTo>
                <a:lnTo>
                  <a:pt x="12221289" y="0"/>
                </a:lnTo>
                <a:lnTo>
                  <a:pt x="12221289" y="8822969"/>
                </a:lnTo>
                <a:lnTo>
                  <a:pt x="0" y="8822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190860" y="1924727"/>
            <a:ext cx="13851811" cy="7333573"/>
            <a:chOff x="0" y="0"/>
            <a:chExt cx="18469082" cy="9778097"/>
          </a:xfrm>
        </p:grpSpPr>
        <p:grpSp>
          <p:nvGrpSpPr>
            <p:cNvPr id="5" name="Group 5"/>
            <p:cNvGrpSpPr/>
            <p:nvPr/>
          </p:nvGrpSpPr>
          <p:grpSpPr>
            <a:xfrm>
              <a:off x="0" y="0"/>
              <a:ext cx="18469082" cy="9778097"/>
              <a:chOff x="0" y="0"/>
              <a:chExt cx="3648214" cy="1931476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3648214" cy="1931476"/>
              </a:xfrm>
              <a:custGeom>
                <a:avLst/>
                <a:gdLst/>
                <a:ahLst/>
                <a:cxnLst/>
                <a:rect l="l" t="t" r="r" b="b"/>
                <a:pathLst>
                  <a:path w="3648214" h="1931476">
                    <a:moveTo>
                      <a:pt x="11178" y="0"/>
                    </a:moveTo>
                    <a:lnTo>
                      <a:pt x="3637035" y="0"/>
                    </a:lnTo>
                    <a:cubicBezTo>
                      <a:pt x="3643209" y="0"/>
                      <a:pt x="3648214" y="5005"/>
                      <a:pt x="3648214" y="11178"/>
                    </a:cubicBezTo>
                    <a:lnTo>
                      <a:pt x="3648214" y="1920298"/>
                    </a:lnTo>
                    <a:cubicBezTo>
                      <a:pt x="3648214" y="1926471"/>
                      <a:pt x="3643209" y="1931476"/>
                      <a:pt x="3637035" y="1931476"/>
                    </a:cubicBezTo>
                    <a:lnTo>
                      <a:pt x="11178" y="1931476"/>
                    </a:lnTo>
                    <a:cubicBezTo>
                      <a:pt x="5005" y="1931476"/>
                      <a:pt x="0" y="1926471"/>
                      <a:pt x="0" y="1920298"/>
                    </a:cubicBezTo>
                    <a:lnTo>
                      <a:pt x="0" y="11178"/>
                    </a:lnTo>
                    <a:cubicBezTo>
                      <a:pt x="0" y="5005"/>
                      <a:pt x="5005" y="0"/>
                      <a:pt x="11178" y="0"/>
                    </a:cubicBezTo>
                    <a:close/>
                  </a:path>
                </a:pathLst>
              </a:custGeom>
              <a:solidFill>
                <a:srgbClr val="04001E"/>
              </a:solidFill>
              <a:ln w="38100" cap="sq">
                <a:solidFill>
                  <a:srgbClr val="E5E1DA"/>
                </a:solidFill>
                <a:prstDash val="solid"/>
                <a:miter/>
              </a:ln>
            </p:spPr>
          </p:sp>
          <p:sp>
            <p:nvSpPr>
              <p:cNvPr id="7" name="TextBox 7"/>
              <p:cNvSpPr txBox="1"/>
              <p:nvPr/>
            </p:nvSpPr>
            <p:spPr>
              <a:xfrm>
                <a:off x="0" y="-38100"/>
                <a:ext cx="3648214" cy="196957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8" name="TextBox 8"/>
            <p:cNvSpPr txBox="1"/>
            <p:nvPr/>
          </p:nvSpPr>
          <p:spPr>
            <a:xfrm>
              <a:off x="1282925" y="1131560"/>
              <a:ext cx="15464908" cy="156367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8342"/>
                </a:lnSpc>
              </a:pPr>
              <a:r>
                <a:rPr lang="en-US" sz="8600">
                  <a:solidFill>
                    <a:srgbClr val="F4F4ED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Topics used in CO5 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82925" y="2910740"/>
              <a:ext cx="12752761" cy="5454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374"/>
                </a:lnSpc>
              </a:pPr>
              <a:r>
                <a:rPr lang="en-US" sz="2499" spc="149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Strings, Sorting and File Handling</a:t>
              </a:r>
            </a:p>
            <a:p>
              <a:pPr marL="539746" lvl="1" indent="-269873" algn="l">
                <a:lnSpc>
                  <a:spcPts val="3374"/>
                </a:lnSpc>
                <a:buFont typeface="Arial"/>
                <a:buChar char="•"/>
              </a:pPr>
              <a:r>
                <a:rPr lang="en-US" sz="2499" spc="149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String operations</a:t>
              </a:r>
            </a:p>
            <a:p>
              <a:pPr marL="539746" lvl="1" indent="-269873" algn="l">
                <a:lnSpc>
                  <a:spcPts val="3374"/>
                </a:lnSpc>
                <a:buFont typeface="Arial"/>
                <a:buChar char="•"/>
              </a:pPr>
              <a:r>
                <a:rPr lang="en-US" sz="2499" spc="149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Sorting flight details</a:t>
              </a:r>
            </a:p>
            <a:p>
              <a:pPr marL="539746" lvl="1" indent="-269873" algn="l">
                <a:lnSpc>
                  <a:spcPts val="3374"/>
                </a:lnSpc>
                <a:buFont typeface="Arial"/>
                <a:buChar char="•"/>
              </a:pPr>
              <a:r>
                <a:rPr lang="en-US" sz="2499" spc="149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File creation and writing</a:t>
              </a:r>
            </a:p>
            <a:p>
              <a:pPr marL="539746" lvl="1" indent="-269873" algn="l">
                <a:lnSpc>
                  <a:spcPts val="3374"/>
                </a:lnSpc>
                <a:buFont typeface="Arial"/>
                <a:buChar char="•"/>
              </a:pPr>
              <a:r>
                <a:rPr lang="en-US" sz="2499" spc="149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Saving information in a text file</a:t>
              </a:r>
            </a:p>
            <a:p>
              <a:pPr algn="l">
                <a:lnSpc>
                  <a:spcPts val="3374"/>
                </a:lnSpc>
              </a:pPr>
              <a:r>
                <a:rPr lang="en-US" sz="2499" spc="149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Application in Our Project:</a:t>
              </a:r>
            </a:p>
            <a:p>
              <a:pPr algn="l">
                <a:lnSpc>
                  <a:spcPts val="3374"/>
                </a:lnSpc>
              </a:pPr>
              <a:r>
                <a:rPr lang="en-US" sz="2499" spc="149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String operations help process flight names and details. Sorting organizes flight information, and file handling saves flight records in flights.txt.</a:t>
              </a:r>
            </a:p>
            <a:p>
              <a:pPr marL="0" lvl="0" indent="0" algn="l">
                <a:lnSpc>
                  <a:spcPts val="2699"/>
                </a:lnSpc>
                <a:spcBef>
                  <a:spcPct val="0"/>
                </a:spcBef>
              </a:pPr>
              <a:endParaRPr lang="en-US" sz="2499" spc="149">
                <a:solidFill>
                  <a:srgbClr val="FFFFFF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  <p:sp>
        <p:nvSpPr>
          <p:cNvPr id="10" name="Freeform 10"/>
          <p:cNvSpPr/>
          <p:nvPr/>
        </p:nvSpPr>
        <p:spPr>
          <a:xfrm>
            <a:off x="16459200" y="9150607"/>
            <a:ext cx="896420" cy="754193"/>
          </a:xfrm>
          <a:custGeom>
            <a:avLst/>
            <a:gdLst/>
            <a:ahLst/>
            <a:cxnLst/>
            <a:rect l="l" t="t" r="r" b="b"/>
            <a:pathLst>
              <a:path w="896420" h="896420">
                <a:moveTo>
                  <a:pt x="0" y="0"/>
                </a:moveTo>
                <a:lnTo>
                  <a:pt x="896421" y="0"/>
                </a:lnTo>
                <a:lnTo>
                  <a:pt x="896421" y="896421"/>
                </a:lnTo>
                <a:lnTo>
                  <a:pt x="0" y="8964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19067B7-A364-19E2-0003-3CEB435FE2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17709" y="3999033"/>
            <a:ext cx="5727025" cy="43084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434" b="-9084"/>
            </a:stretch>
          </a:blipFill>
        </p:spPr>
      </p:sp>
      <p:sp>
        <p:nvSpPr>
          <p:cNvPr id="3" name="Freeform 3"/>
          <p:cNvSpPr/>
          <p:nvPr/>
        </p:nvSpPr>
        <p:spPr>
          <a:xfrm rot="6626729">
            <a:off x="11878550" y="2429250"/>
            <a:ext cx="12221289" cy="8822969"/>
          </a:xfrm>
          <a:custGeom>
            <a:avLst/>
            <a:gdLst/>
            <a:ahLst/>
            <a:cxnLst/>
            <a:rect l="l" t="t" r="r" b="b"/>
            <a:pathLst>
              <a:path w="12221289" h="8822969">
                <a:moveTo>
                  <a:pt x="0" y="0"/>
                </a:moveTo>
                <a:lnTo>
                  <a:pt x="12221289" y="0"/>
                </a:lnTo>
                <a:lnTo>
                  <a:pt x="12221289" y="8822969"/>
                </a:lnTo>
                <a:lnTo>
                  <a:pt x="0" y="8822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335001" y="922877"/>
            <a:ext cx="14193211" cy="8296586"/>
            <a:chOff x="0" y="-192881"/>
            <a:chExt cx="18924282" cy="11062114"/>
          </a:xfrm>
        </p:grpSpPr>
        <p:grpSp>
          <p:nvGrpSpPr>
            <p:cNvPr id="5" name="Group 5"/>
            <p:cNvGrpSpPr/>
            <p:nvPr/>
          </p:nvGrpSpPr>
          <p:grpSpPr>
            <a:xfrm>
              <a:off x="0" y="-192881"/>
              <a:ext cx="18924282" cy="11062114"/>
              <a:chOff x="0" y="-38100"/>
              <a:chExt cx="3738130" cy="2185109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89916" y="0"/>
                <a:ext cx="3648214" cy="2147009"/>
              </a:xfrm>
              <a:custGeom>
                <a:avLst/>
                <a:gdLst/>
                <a:ahLst/>
                <a:cxnLst/>
                <a:rect l="l" t="t" r="r" b="b"/>
                <a:pathLst>
                  <a:path w="3648214" h="2147009">
                    <a:moveTo>
                      <a:pt x="11178" y="0"/>
                    </a:moveTo>
                    <a:lnTo>
                      <a:pt x="3637035" y="0"/>
                    </a:lnTo>
                    <a:cubicBezTo>
                      <a:pt x="3643209" y="0"/>
                      <a:pt x="3648214" y="5005"/>
                      <a:pt x="3648214" y="11178"/>
                    </a:cubicBezTo>
                    <a:lnTo>
                      <a:pt x="3648214" y="2135831"/>
                    </a:lnTo>
                    <a:cubicBezTo>
                      <a:pt x="3648214" y="2142004"/>
                      <a:pt x="3643209" y="2147009"/>
                      <a:pt x="3637035" y="2147009"/>
                    </a:cubicBezTo>
                    <a:lnTo>
                      <a:pt x="11178" y="2147009"/>
                    </a:lnTo>
                    <a:cubicBezTo>
                      <a:pt x="5005" y="2147009"/>
                      <a:pt x="0" y="2142004"/>
                      <a:pt x="0" y="2135831"/>
                    </a:cubicBezTo>
                    <a:lnTo>
                      <a:pt x="0" y="11178"/>
                    </a:lnTo>
                    <a:cubicBezTo>
                      <a:pt x="0" y="5005"/>
                      <a:pt x="5005" y="0"/>
                      <a:pt x="11178" y="0"/>
                    </a:cubicBezTo>
                    <a:close/>
                  </a:path>
                </a:pathLst>
              </a:custGeom>
              <a:solidFill>
                <a:srgbClr val="04001E"/>
              </a:solidFill>
              <a:ln w="38100" cap="sq">
                <a:solidFill>
                  <a:srgbClr val="E5E1DA"/>
                </a:solidFill>
                <a:prstDash val="solid"/>
                <a:miter/>
              </a:ln>
            </p:spPr>
          </p:sp>
          <p:sp>
            <p:nvSpPr>
              <p:cNvPr id="7" name="TextBox 7"/>
              <p:cNvSpPr txBox="1"/>
              <p:nvPr/>
            </p:nvSpPr>
            <p:spPr>
              <a:xfrm>
                <a:off x="0" y="-38100"/>
                <a:ext cx="3648214" cy="218510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8" name="TextBox 8"/>
            <p:cNvSpPr txBox="1"/>
            <p:nvPr/>
          </p:nvSpPr>
          <p:spPr>
            <a:xfrm>
              <a:off x="1282925" y="2076647"/>
              <a:ext cx="16113546" cy="156367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8342"/>
                </a:lnSpc>
              </a:pPr>
              <a:r>
                <a:rPr lang="en-US" sz="8600">
                  <a:solidFill>
                    <a:srgbClr val="F4F4ED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Topics used in CO6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82925" y="4584700"/>
              <a:ext cx="12752760" cy="44653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r>
                <a:rPr lang="en-US" sz="2499" spc="149" dirty="0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Collections and Streams</a:t>
              </a:r>
            </a:p>
            <a:p>
              <a:pPr marL="539746" lvl="1" indent="-269873" algn="l">
                <a:lnSpc>
                  <a:spcPts val="3374"/>
                </a:lnSpc>
                <a:buFont typeface="Arial"/>
                <a:buChar char="•"/>
              </a:pPr>
              <a:r>
                <a:rPr lang="en-US" sz="2499" spc="149" dirty="0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Java collections</a:t>
              </a:r>
            </a:p>
            <a:p>
              <a:pPr marL="539746" lvl="1" indent="-269873" algn="l">
                <a:lnSpc>
                  <a:spcPts val="3374"/>
                </a:lnSpc>
                <a:buFont typeface="Arial"/>
                <a:buChar char="•"/>
              </a:pPr>
              <a:r>
                <a:rPr lang="en-US" sz="2499" spc="149" dirty="0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Stream operations</a:t>
              </a:r>
            </a:p>
            <a:p>
              <a:pPr marL="539746" lvl="1" indent="-269873" algn="l">
                <a:lnSpc>
                  <a:spcPts val="3374"/>
                </a:lnSpc>
                <a:buFont typeface="Arial"/>
                <a:buChar char="•"/>
              </a:pPr>
              <a:r>
                <a:rPr lang="en-US" sz="2499" spc="149" dirty="0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Filtering and processing data</a:t>
              </a:r>
            </a:p>
            <a:p>
              <a:pPr algn="l">
                <a:lnSpc>
                  <a:spcPts val="3374"/>
                </a:lnSpc>
              </a:pPr>
              <a:r>
                <a:rPr lang="en-US" sz="2499" spc="149" dirty="0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Application in Our Project:</a:t>
              </a:r>
            </a:p>
            <a:p>
              <a:pPr algn="l">
                <a:lnSpc>
                  <a:spcPts val="3374"/>
                </a:lnSpc>
              </a:pPr>
              <a:r>
                <a:rPr lang="en-US" sz="2499" spc="149" dirty="0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These concepts help process and filter flight information efficiently and make the program more organized.</a:t>
              </a:r>
            </a:p>
            <a:p>
              <a:pPr marL="0" lvl="0" indent="0" algn="l">
                <a:lnSpc>
                  <a:spcPts val="2699"/>
                </a:lnSpc>
                <a:spcBef>
                  <a:spcPct val="0"/>
                </a:spcBef>
              </a:pPr>
              <a:endParaRPr lang="en-US" sz="2499" spc="149" dirty="0">
                <a:solidFill>
                  <a:srgbClr val="FFFFFF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  <p:sp>
        <p:nvSpPr>
          <p:cNvPr id="10" name="Freeform 10"/>
          <p:cNvSpPr/>
          <p:nvPr/>
        </p:nvSpPr>
        <p:spPr>
          <a:xfrm>
            <a:off x="16521813" y="8771253"/>
            <a:ext cx="896420" cy="896420"/>
          </a:xfrm>
          <a:custGeom>
            <a:avLst/>
            <a:gdLst/>
            <a:ahLst/>
            <a:cxnLst/>
            <a:rect l="l" t="t" r="r" b="b"/>
            <a:pathLst>
              <a:path w="896420" h="896420">
                <a:moveTo>
                  <a:pt x="0" y="0"/>
                </a:moveTo>
                <a:lnTo>
                  <a:pt x="896421" y="0"/>
                </a:lnTo>
                <a:lnTo>
                  <a:pt x="896421" y="896421"/>
                </a:lnTo>
                <a:lnTo>
                  <a:pt x="0" y="8964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C32C472-D142-EBBA-F293-2E687305D1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86402" y="3499739"/>
            <a:ext cx="6839905" cy="346758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259" b="-9259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100771" y="1038272"/>
            <a:ext cx="12770485" cy="7225428"/>
            <a:chOff x="0" y="0"/>
            <a:chExt cx="17027313" cy="9633904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17027313" cy="9633904"/>
              <a:chOff x="0" y="0"/>
              <a:chExt cx="3363420" cy="1902993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3363420" cy="1902993"/>
              </a:xfrm>
              <a:custGeom>
                <a:avLst/>
                <a:gdLst/>
                <a:ahLst/>
                <a:cxnLst/>
                <a:rect l="l" t="t" r="r" b="b"/>
                <a:pathLst>
                  <a:path w="3363420" h="1902993">
                    <a:moveTo>
                      <a:pt x="12125" y="0"/>
                    </a:moveTo>
                    <a:lnTo>
                      <a:pt x="3351295" y="0"/>
                    </a:lnTo>
                    <a:cubicBezTo>
                      <a:pt x="3354511" y="0"/>
                      <a:pt x="3357595" y="1277"/>
                      <a:pt x="3359869" y="3551"/>
                    </a:cubicBezTo>
                    <a:cubicBezTo>
                      <a:pt x="3362142" y="5825"/>
                      <a:pt x="3363420" y="8909"/>
                      <a:pt x="3363420" y="12125"/>
                    </a:cubicBezTo>
                    <a:lnTo>
                      <a:pt x="3363420" y="1890869"/>
                    </a:lnTo>
                    <a:cubicBezTo>
                      <a:pt x="3363420" y="1894084"/>
                      <a:pt x="3362142" y="1897168"/>
                      <a:pt x="3359869" y="1899442"/>
                    </a:cubicBezTo>
                    <a:cubicBezTo>
                      <a:pt x="3357595" y="1901716"/>
                      <a:pt x="3354511" y="1902993"/>
                      <a:pt x="3351295" y="1902993"/>
                    </a:cubicBezTo>
                    <a:lnTo>
                      <a:pt x="12125" y="1902993"/>
                    </a:lnTo>
                    <a:cubicBezTo>
                      <a:pt x="8909" y="1902993"/>
                      <a:pt x="5825" y="1901716"/>
                      <a:pt x="3551" y="1899442"/>
                    </a:cubicBezTo>
                    <a:cubicBezTo>
                      <a:pt x="1277" y="1897168"/>
                      <a:pt x="0" y="1894084"/>
                      <a:pt x="0" y="1890869"/>
                    </a:cubicBezTo>
                    <a:lnTo>
                      <a:pt x="0" y="12125"/>
                    </a:lnTo>
                    <a:cubicBezTo>
                      <a:pt x="0" y="8909"/>
                      <a:pt x="1277" y="5825"/>
                      <a:pt x="3551" y="3551"/>
                    </a:cubicBezTo>
                    <a:cubicBezTo>
                      <a:pt x="5825" y="1277"/>
                      <a:pt x="8909" y="0"/>
                      <a:pt x="12125" y="0"/>
                    </a:cubicBezTo>
                    <a:close/>
                  </a:path>
                </a:pathLst>
              </a:custGeom>
              <a:solidFill>
                <a:srgbClr val="04001E"/>
              </a:solidFill>
              <a:ln w="38100" cap="sq">
                <a:solidFill>
                  <a:srgbClr val="E5E1DA"/>
                </a:solidFill>
                <a:prstDash val="solid"/>
                <a:miter/>
              </a:ln>
            </p:spPr>
          </p:sp>
          <p:sp>
            <p:nvSpPr>
              <p:cNvPr id="6" name="TextBox 6"/>
              <p:cNvSpPr txBox="1"/>
              <p:nvPr/>
            </p:nvSpPr>
            <p:spPr>
              <a:xfrm>
                <a:off x="0" y="-38100"/>
                <a:ext cx="3363420" cy="194109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TextBox 7"/>
            <p:cNvSpPr txBox="1"/>
            <p:nvPr/>
          </p:nvSpPr>
          <p:spPr>
            <a:xfrm>
              <a:off x="1485588" y="1364299"/>
              <a:ext cx="14056138" cy="16332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8730"/>
                </a:lnSpc>
              </a:pPr>
              <a:r>
                <a:rPr lang="en-US" sz="9000">
                  <a:solidFill>
                    <a:srgbClr val="FFFFFF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Conclusion 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643293" y="3347404"/>
              <a:ext cx="12761450" cy="50285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104"/>
                </a:lnSpc>
              </a:pPr>
              <a:r>
                <a:rPr lang="en-US" sz="2299" spc="137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The Flight Tracker System demonstrates how Java programming concepts can be used to develop a practical application.</a:t>
              </a:r>
            </a:p>
            <a:p>
              <a:pPr algn="l">
                <a:lnSpc>
                  <a:spcPts val="3104"/>
                </a:lnSpc>
              </a:pPr>
              <a:r>
                <a:rPr lang="en-US" sz="2299" spc="137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The project provides features for viewing arrivals and departures, searching flights, sorting records, saving information, and displaying statistics.</a:t>
              </a:r>
            </a:p>
            <a:p>
              <a:pPr algn="l">
                <a:lnSpc>
                  <a:spcPts val="3104"/>
                </a:lnSpc>
              </a:pPr>
              <a:r>
                <a:rPr lang="en-US" sz="2299" spc="137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Through this project, we gained practical knowledge of Java fundamentals, control statements, methods, object-oriented programming, and file handling.</a:t>
              </a:r>
            </a:p>
            <a:p>
              <a:pPr marL="0" lvl="0" indent="0" algn="l">
                <a:lnSpc>
                  <a:spcPts val="2699"/>
                </a:lnSpc>
                <a:spcBef>
                  <a:spcPct val="0"/>
                </a:spcBef>
              </a:pPr>
              <a:endParaRPr lang="en-US" sz="2299" spc="137">
                <a:solidFill>
                  <a:srgbClr val="FFFFFF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marL="0" lvl="0" indent="0" algn="l">
                <a:lnSpc>
                  <a:spcPts val="2699"/>
                </a:lnSpc>
                <a:spcBef>
                  <a:spcPct val="0"/>
                </a:spcBef>
              </a:pPr>
              <a:endParaRPr lang="en-US" sz="2299" spc="137">
                <a:solidFill>
                  <a:srgbClr val="FFFFFF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  <p:sp>
        <p:nvSpPr>
          <p:cNvPr id="9" name="Freeform 9"/>
          <p:cNvSpPr/>
          <p:nvPr/>
        </p:nvSpPr>
        <p:spPr>
          <a:xfrm>
            <a:off x="15805593" y="8810090"/>
            <a:ext cx="896420" cy="896420"/>
          </a:xfrm>
          <a:custGeom>
            <a:avLst/>
            <a:gdLst/>
            <a:ahLst/>
            <a:cxnLst/>
            <a:rect l="l" t="t" r="r" b="b"/>
            <a:pathLst>
              <a:path w="896420" h="896420">
                <a:moveTo>
                  <a:pt x="0" y="0"/>
                </a:moveTo>
                <a:lnTo>
                  <a:pt x="896421" y="0"/>
                </a:lnTo>
                <a:lnTo>
                  <a:pt x="896421" y="896420"/>
                </a:lnTo>
                <a:lnTo>
                  <a:pt x="0" y="89642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 rot="-1542318" flipV="1">
            <a:off x="11968542" y="-1035611"/>
            <a:ext cx="7674102" cy="8229600"/>
          </a:xfrm>
          <a:custGeom>
            <a:avLst/>
            <a:gdLst/>
            <a:ahLst/>
            <a:cxnLst/>
            <a:rect l="l" t="t" r="r" b="b"/>
            <a:pathLst>
              <a:path w="7674102" h="8229600">
                <a:moveTo>
                  <a:pt x="0" y="8229600"/>
                </a:moveTo>
                <a:lnTo>
                  <a:pt x="7674102" y="8229600"/>
                </a:lnTo>
                <a:lnTo>
                  <a:pt x="7674102" y="0"/>
                </a:lnTo>
                <a:lnTo>
                  <a:pt x="0" y="0"/>
                </a:lnTo>
                <a:lnTo>
                  <a:pt x="0" y="822960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259" b="-9259"/>
            </a:stretch>
          </a:blipFill>
        </p:spPr>
      </p:sp>
      <p:sp>
        <p:nvSpPr>
          <p:cNvPr id="3" name="Freeform 3"/>
          <p:cNvSpPr/>
          <p:nvPr/>
        </p:nvSpPr>
        <p:spPr>
          <a:xfrm rot="6626729">
            <a:off x="11878550" y="2429250"/>
            <a:ext cx="12221289" cy="8822969"/>
          </a:xfrm>
          <a:custGeom>
            <a:avLst/>
            <a:gdLst/>
            <a:ahLst/>
            <a:cxnLst/>
            <a:rect l="l" t="t" r="r" b="b"/>
            <a:pathLst>
              <a:path w="12221289" h="8822969">
                <a:moveTo>
                  <a:pt x="0" y="0"/>
                </a:moveTo>
                <a:lnTo>
                  <a:pt x="12221289" y="0"/>
                </a:lnTo>
                <a:lnTo>
                  <a:pt x="12221289" y="8822969"/>
                </a:lnTo>
                <a:lnTo>
                  <a:pt x="0" y="8822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530837" y="769080"/>
            <a:ext cx="13043373" cy="9292061"/>
            <a:chOff x="0" y="0"/>
            <a:chExt cx="17391164" cy="12389414"/>
          </a:xfrm>
        </p:grpSpPr>
        <p:grpSp>
          <p:nvGrpSpPr>
            <p:cNvPr id="5" name="Group 5"/>
            <p:cNvGrpSpPr/>
            <p:nvPr/>
          </p:nvGrpSpPr>
          <p:grpSpPr>
            <a:xfrm>
              <a:off x="0" y="0"/>
              <a:ext cx="17391164" cy="12389414"/>
              <a:chOff x="0" y="0"/>
              <a:chExt cx="3705159" cy="2639544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3705159" cy="2639544"/>
              </a:xfrm>
              <a:custGeom>
                <a:avLst/>
                <a:gdLst/>
                <a:ahLst/>
                <a:cxnLst/>
                <a:rect l="l" t="t" r="r" b="b"/>
                <a:pathLst>
                  <a:path w="3705159" h="2639544">
                    <a:moveTo>
                      <a:pt x="11006" y="0"/>
                    </a:moveTo>
                    <a:lnTo>
                      <a:pt x="3694152" y="0"/>
                    </a:lnTo>
                    <a:cubicBezTo>
                      <a:pt x="3700231" y="0"/>
                      <a:pt x="3705159" y="4928"/>
                      <a:pt x="3705159" y="11006"/>
                    </a:cubicBezTo>
                    <a:lnTo>
                      <a:pt x="3705159" y="2628538"/>
                    </a:lnTo>
                    <a:cubicBezTo>
                      <a:pt x="3705159" y="2631457"/>
                      <a:pt x="3703999" y="2634256"/>
                      <a:pt x="3701935" y="2636320"/>
                    </a:cubicBezTo>
                    <a:cubicBezTo>
                      <a:pt x="3699871" y="2638384"/>
                      <a:pt x="3697071" y="2639544"/>
                      <a:pt x="3694152" y="2639544"/>
                    </a:cubicBezTo>
                    <a:lnTo>
                      <a:pt x="11006" y="2639544"/>
                    </a:lnTo>
                    <a:cubicBezTo>
                      <a:pt x="8087" y="2639544"/>
                      <a:pt x="5288" y="2638384"/>
                      <a:pt x="3224" y="2636320"/>
                    </a:cubicBezTo>
                    <a:cubicBezTo>
                      <a:pt x="1160" y="2634256"/>
                      <a:pt x="0" y="2631457"/>
                      <a:pt x="0" y="2628538"/>
                    </a:cubicBezTo>
                    <a:lnTo>
                      <a:pt x="0" y="11006"/>
                    </a:lnTo>
                    <a:cubicBezTo>
                      <a:pt x="0" y="8087"/>
                      <a:pt x="1160" y="5288"/>
                      <a:pt x="3224" y="3224"/>
                    </a:cubicBezTo>
                    <a:cubicBezTo>
                      <a:pt x="5288" y="1160"/>
                      <a:pt x="8087" y="0"/>
                      <a:pt x="11006" y="0"/>
                    </a:cubicBezTo>
                    <a:close/>
                  </a:path>
                </a:pathLst>
              </a:custGeom>
              <a:solidFill>
                <a:srgbClr val="04001E"/>
              </a:solidFill>
              <a:ln w="38100" cap="sq">
                <a:solidFill>
                  <a:srgbClr val="E5E1DA"/>
                </a:solidFill>
                <a:prstDash val="solid"/>
                <a:miter/>
              </a:ln>
            </p:spPr>
          </p:sp>
          <p:sp>
            <p:nvSpPr>
              <p:cNvPr id="7" name="TextBox 7"/>
              <p:cNvSpPr txBox="1"/>
              <p:nvPr/>
            </p:nvSpPr>
            <p:spPr>
              <a:xfrm>
                <a:off x="0" y="-38100"/>
                <a:ext cx="3705159" cy="26776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8" name="TextBox 8"/>
            <p:cNvSpPr txBox="1"/>
            <p:nvPr/>
          </p:nvSpPr>
          <p:spPr>
            <a:xfrm>
              <a:off x="875015" y="440391"/>
              <a:ext cx="14399838" cy="251220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7087"/>
                </a:lnSpc>
              </a:pPr>
              <a:r>
                <a:rPr lang="en-US" sz="7307">
                  <a:solidFill>
                    <a:srgbClr val="F4F4ED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Sample Program Output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61150" y="3327825"/>
              <a:ext cx="11869514" cy="69971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03"/>
                </a:lnSpc>
              </a:pPr>
              <a:r>
                <a:rPr lang="en-US" sz="1854" spc="111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FLIGHT TRACKER SYSTEM</a:t>
              </a:r>
            </a:p>
            <a:p>
              <a:pPr marL="400349" lvl="1" indent="-200174" algn="l">
                <a:lnSpc>
                  <a:spcPts val="2503"/>
                </a:lnSpc>
                <a:buAutoNum type="arabicPeriod"/>
              </a:pPr>
              <a:r>
                <a:rPr lang="en-US" sz="1854" spc="111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View Arrivals</a:t>
              </a:r>
            </a:p>
            <a:p>
              <a:pPr marL="400349" lvl="1" indent="-200174" algn="l">
                <a:lnSpc>
                  <a:spcPts val="2503"/>
                </a:lnSpc>
                <a:buAutoNum type="arabicPeriod"/>
              </a:pPr>
              <a:r>
                <a:rPr lang="en-US" sz="1854" spc="111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View Departures</a:t>
              </a:r>
            </a:p>
            <a:p>
              <a:pPr marL="400349" lvl="1" indent="-200174" algn="l">
                <a:lnSpc>
                  <a:spcPts val="2503"/>
                </a:lnSpc>
                <a:buAutoNum type="arabicPeriod"/>
              </a:pPr>
              <a:r>
                <a:rPr lang="en-US" sz="1854" spc="111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Search Flight</a:t>
              </a:r>
            </a:p>
            <a:p>
              <a:pPr marL="400349" lvl="1" indent="-200174" algn="l">
                <a:lnSpc>
                  <a:spcPts val="2503"/>
                </a:lnSpc>
                <a:buAutoNum type="arabicPeriod"/>
              </a:pPr>
              <a:r>
                <a:rPr lang="en-US" sz="1854" spc="111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List Destinations</a:t>
              </a:r>
            </a:p>
            <a:p>
              <a:pPr marL="400349" lvl="1" indent="-200174" algn="l">
                <a:lnSpc>
                  <a:spcPts val="2503"/>
                </a:lnSpc>
                <a:buAutoNum type="arabicPeriod"/>
              </a:pPr>
              <a:r>
                <a:rPr lang="en-US" sz="1854" spc="111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Sort Flights</a:t>
              </a:r>
            </a:p>
            <a:p>
              <a:pPr marL="400349" lvl="1" indent="-200174" algn="l">
                <a:lnSpc>
                  <a:spcPts val="2503"/>
                </a:lnSpc>
                <a:buAutoNum type="arabicPeriod"/>
              </a:pPr>
              <a:r>
                <a:rPr lang="en-US" sz="1854" spc="111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Save Flight Details</a:t>
              </a:r>
            </a:p>
            <a:p>
              <a:pPr marL="400349" lvl="1" indent="-200174" algn="l">
                <a:lnSpc>
                  <a:spcPts val="2503"/>
                </a:lnSpc>
                <a:buAutoNum type="arabicPeriod"/>
              </a:pPr>
              <a:r>
                <a:rPr lang="en-US" sz="1854" spc="111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Show Statistics</a:t>
              </a:r>
            </a:p>
            <a:p>
              <a:pPr marL="400349" lvl="1" indent="-200174" algn="l">
                <a:lnSpc>
                  <a:spcPts val="2503"/>
                </a:lnSpc>
                <a:buAutoNum type="arabicPeriod"/>
              </a:pPr>
              <a:r>
                <a:rPr lang="en-US" sz="1854" spc="111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Exit</a:t>
              </a:r>
            </a:p>
            <a:p>
              <a:pPr algn="l">
                <a:lnSpc>
                  <a:spcPts val="2503"/>
                </a:lnSpc>
              </a:pPr>
              <a:r>
                <a:rPr lang="en-US" sz="1854" spc="111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Enter your choice: 7</a:t>
              </a:r>
            </a:p>
            <a:p>
              <a:pPr algn="l">
                <a:lnSpc>
                  <a:spcPts val="2503"/>
                </a:lnSpc>
              </a:pPr>
              <a:r>
                <a:rPr lang="en-US" sz="1854" spc="111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--- FLIGHT STATISTICS ---</a:t>
              </a:r>
            </a:p>
            <a:p>
              <a:pPr algn="l">
                <a:lnSpc>
                  <a:spcPts val="2503"/>
                </a:lnSpc>
              </a:pPr>
              <a:r>
                <a:rPr lang="en-US" sz="1854" spc="111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Total Flights: 16</a:t>
              </a:r>
            </a:p>
            <a:p>
              <a:pPr algn="l">
                <a:lnSpc>
                  <a:spcPts val="2503"/>
                </a:lnSpc>
              </a:pPr>
              <a:r>
                <a:rPr lang="en-US" sz="1854" spc="111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Arrived Flights: 5</a:t>
              </a:r>
            </a:p>
            <a:p>
              <a:pPr algn="l">
                <a:lnSpc>
                  <a:spcPts val="2503"/>
                </a:lnSpc>
              </a:pPr>
              <a:r>
                <a:rPr lang="en-US" sz="1854" spc="111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Delayed Flights: 3</a:t>
              </a:r>
            </a:p>
            <a:p>
              <a:pPr algn="l">
                <a:lnSpc>
                  <a:spcPts val="2503"/>
                </a:lnSpc>
              </a:pPr>
              <a:r>
                <a:rPr lang="en-US" sz="1854" spc="111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Enter your choice: 8</a:t>
              </a:r>
            </a:p>
            <a:p>
              <a:pPr algn="l">
                <a:lnSpc>
                  <a:spcPts val="2503"/>
                </a:lnSpc>
              </a:pPr>
              <a:r>
                <a:rPr lang="en-US" sz="1854" spc="111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Thank you for using Flight Tracker System!</a:t>
              </a:r>
            </a:p>
            <a:p>
              <a:pPr marL="0" lvl="0" indent="0" algn="l">
                <a:lnSpc>
                  <a:spcPts val="2503"/>
                </a:lnSpc>
                <a:spcBef>
                  <a:spcPct val="0"/>
                </a:spcBef>
              </a:pPr>
              <a:endParaRPr lang="en-US" sz="1854" spc="111">
                <a:solidFill>
                  <a:srgbClr val="FFFFFF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  <p:sp>
        <p:nvSpPr>
          <p:cNvPr id="10" name="Freeform 10"/>
          <p:cNvSpPr/>
          <p:nvPr/>
        </p:nvSpPr>
        <p:spPr>
          <a:xfrm>
            <a:off x="12271832" y="7270926"/>
            <a:ext cx="896420" cy="896420"/>
          </a:xfrm>
          <a:custGeom>
            <a:avLst/>
            <a:gdLst/>
            <a:ahLst/>
            <a:cxnLst/>
            <a:rect l="l" t="t" r="r" b="b"/>
            <a:pathLst>
              <a:path w="896420" h="896420">
                <a:moveTo>
                  <a:pt x="0" y="0"/>
                </a:moveTo>
                <a:lnTo>
                  <a:pt x="896421" y="0"/>
                </a:lnTo>
                <a:lnTo>
                  <a:pt x="896421" y="896421"/>
                </a:lnTo>
                <a:lnTo>
                  <a:pt x="0" y="8964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259" b="-9259"/>
            </a:stretch>
          </a:blipFill>
        </p:spPr>
      </p:sp>
      <p:sp>
        <p:nvSpPr>
          <p:cNvPr id="3" name="Freeform 3"/>
          <p:cNvSpPr/>
          <p:nvPr/>
        </p:nvSpPr>
        <p:spPr>
          <a:xfrm rot="6626729">
            <a:off x="11878550" y="2429250"/>
            <a:ext cx="12221289" cy="8822969"/>
          </a:xfrm>
          <a:custGeom>
            <a:avLst/>
            <a:gdLst/>
            <a:ahLst/>
            <a:cxnLst/>
            <a:rect l="l" t="t" r="r" b="b"/>
            <a:pathLst>
              <a:path w="12221289" h="8822969">
                <a:moveTo>
                  <a:pt x="0" y="0"/>
                </a:moveTo>
                <a:lnTo>
                  <a:pt x="12221289" y="0"/>
                </a:lnTo>
                <a:lnTo>
                  <a:pt x="12221289" y="8822969"/>
                </a:lnTo>
                <a:lnTo>
                  <a:pt x="0" y="8822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351163" y="397217"/>
            <a:ext cx="15847424" cy="9628215"/>
            <a:chOff x="0" y="0"/>
            <a:chExt cx="21129899" cy="12837620"/>
          </a:xfrm>
        </p:grpSpPr>
        <p:grpSp>
          <p:nvGrpSpPr>
            <p:cNvPr id="5" name="Group 5"/>
            <p:cNvGrpSpPr/>
            <p:nvPr/>
          </p:nvGrpSpPr>
          <p:grpSpPr>
            <a:xfrm>
              <a:off x="0" y="0"/>
              <a:ext cx="21129899" cy="12837620"/>
              <a:chOff x="0" y="0"/>
              <a:chExt cx="3648214" cy="2216498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3648214" cy="2216498"/>
              </a:xfrm>
              <a:custGeom>
                <a:avLst/>
                <a:gdLst/>
                <a:ahLst/>
                <a:cxnLst/>
                <a:rect l="l" t="t" r="r" b="b"/>
                <a:pathLst>
                  <a:path w="3648214" h="2216498">
                    <a:moveTo>
                      <a:pt x="11178" y="0"/>
                    </a:moveTo>
                    <a:lnTo>
                      <a:pt x="3637035" y="0"/>
                    </a:lnTo>
                    <a:cubicBezTo>
                      <a:pt x="3643209" y="0"/>
                      <a:pt x="3648214" y="5005"/>
                      <a:pt x="3648214" y="11178"/>
                    </a:cubicBezTo>
                    <a:lnTo>
                      <a:pt x="3648214" y="2205320"/>
                    </a:lnTo>
                    <a:cubicBezTo>
                      <a:pt x="3648214" y="2211494"/>
                      <a:pt x="3643209" y="2216498"/>
                      <a:pt x="3637035" y="2216498"/>
                    </a:cubicBezTo>
                    <a:lnTo>
                      <a:pt x="11178" y="2216498"/>
                    </a:lnTo>
                    <a:cubicBezTo>
                      <a:pt x="5005" y="2216498"/>
                      <a:pt x="0" y="2211494"/>
                      <a:pt x="0" y="2205320"/>
                    </a:cubicBezTo>
                    <a:lnTo>
                      <a:pt x="0" y="11178"/>
                    </a:lnTo>
                    <a:cubicBezTo>
                      <a:pt x="0" y="5005"/>
                      <a:pt x="5005" y="0"/>
                      <a:pt x="11178" y="0"/>
                    </a:cubicBezTo>
                    <a:close/>
                  </a:path>
                </a:pathLst>
              </a:custGeom>
              <a:solidFill>
                <a:srgbClr val="04001E"/>
              </a:solidFill>
              <a:ln w="38100" cap="sq">
                <a:solidFill>
                  <a:srgbClr val="E5E1DA"/>
                </a:solidFill>
                <a:prstDash val="solid"/>
                <a:miter/>
              </a:ln>
            </p:spPr>
          </p:sp>
          <p:sp>
            <p:nvSpPr>
              <p:cNvPr id="7" name="TextBox 7"/>
              <p:cNvSpPr txBox="1"/>
              <p:nvPr/>
            </p:nvSpPr>
            <p:spPr>
              <a:xfrm>
                <a:off x="0" y="-38100"/>
                <a:ext cx="3648214" cy="225459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  <a:p>
                <a:pPr algn="ctr">
                  <a:lnSpc>
                    <a:spcPts val="2660"/>
                  </a:lnSpc>
                </a:pPr>
                <a:endParaRPr/>
              </a:p>
              <a:p>
                <a:pPr algn="ctr">
                  <a:lnSpc>
                    <a:spcPts val="2660"/>
                  </a:lnSpc>
                </a:pPr>
                <a:endParaRPr/>
              </a:p>
              <a:p>
                <a:pPr algn="l">
                  <a:lnSpc>
                    <a:spcPts val="2660"/>
                  </a:lnSpc>
                </a:pPr>
                <a:endParaRPr/>
              </a:p>
              <a:p>
                <a:pPr algn="l">
                  <a:lnSpc>
                    <a:spcPts val="2660"/>
                  </a:lnSpc>
                </a:pPr>
                <a:endParaRPr/>
              </a:p>
              <a:p>
                <a:pPr algn="l">
                  <a:lnSpc>
                    <a:spcPts val="2660"/>
                  </a:lnSpc>
                </a:pPr>
                <a:endParaRPr/>
              </a:p>
              <a:p>
                <a:pPr algn="l">
                  <a:lnSpc>
                    <a:spcPts val="2660"/>
                  </a:lnSpc>
                </a:pPr>
                <a:endParaRPr/>
              </a:p>
              <a:p>
                <a:pPr algn="l">
                  <a:lnSpc>
                    <a:spcPts val="2660"/>
                  </a:lnSpc>
                </a:pPr>
                <a:endParaRPr/>
              </a:p>
              <a:p>
                <a:pPr algn="l">
                  <a:lnSpc>
                    <a:spcPts val="3639"/>
                  </a:lnSpc>
                </a:pPr>
                <a:r>
                  <a:rPr lang="en-US" sz="2599" i="1">
                    <a:solidFill>
                      <a:srgbClr val="FFFFFF"/>
                    </a:solidFill>
                    <a:latin typeface="Lato Italics"/>
                    <a:ea typeface="Lato Italics"/>
                    <a:cs typeface="Lato Italics"/>
                    <a:sym typeface="Lato Italics"/>
                  </a:rPr>
                  <a:t>GeoTag Photo:</a:t>
                </a:r>
              </a:p>
              <a:p>
                <a:pPr algn="l">
                  <a:lnSpc>
                    <a:spcPts val="2660"/>
                  </a:lnSpc>
                </a:pPr>
                <a:endParaRPr lang="en-US" sz="2599" i="1">
                  <a:solidFill>
                    <a:srgbClr val="FFFFFF"/>
                  </a:solidFill>
                  <a:latin typeface="Lato Italics"/>
                  <a:ea typeface="Lato Italics"/>
                  <a:cs typeface="Lato Italics"/>
                  <a:sym typeface="Lato Italics"/>
                </a:endParaRPr>
              </a:p>
              <a:p>
                <a:pPr algn="l">
                  <a:lnSpc>
                    <a:spcPts val="2660"/>
                  </a:lnSpc>
                </a:pPr>
                <a:endParaRPr lang="en-US" sz="2599" i="1">
                  <a:solidFill>
                    <a:srgbClr val="FFFFFF"/>
                  </a:solidFill>
                  <a:latin typeface="Lato Italics"/>
                  <a:ea typeface="Lato Italics"/>
                  <a:cs typeface="Lato Italics"/>
                  <a:sym typeface="Lato Italics"/>
                </a:endParaRPr>
              </a:p>
              <a:p>
                <a:pPr algn="l">
                  <a:lnSpc>
                    <a:spcPts val="2660"/>
                  </a:lnSpc>
                </a:pPr>
                <a:endParaRPr lang="en-US" sz="2599" i="1">
                  <a:solidFill>
                    <a:srgbClr val="FFFFFF"/>
                  </a:solidFill>
                  <a:latin typeface="Lato Italics"/>
                  <a:ea typeface="Lato Italics"/>
                  <a:cs typeface="Lato Italics"/>
                  <a:sym typeface="Lato Italics"/>
                </a:endParaRPr>
              </a:p>
              <a:p>
                <a:pPr algn="l">
                  <a:lnSpc>
                    <a:spcPts val="2660"/>
                  </a:lnSpc>
                </a:pPr>
                <a:endParaRPr lang="en-US" sz="2599" i="1">
                  <a:solidFill>
                    <a:srgbClr val="FFFFFF"/>
                  </a:solidFill>
                  <a:latin typeface="Lato Italics"/>
                  <a:ea typeface="Lato Italics"/>
                  <a:cs typeface="Lato Italics"/>
                  <a:sym typeface="Lato Italics"/>
                </a:endParaRPr>
              </a:p>
              <a:p>
                <a:pPr algn="l">
                  <a:lnSpc>
                    <a:spcPts val="2660"/>
                  </a:lnSpc>
                </a:pPr>
                <a:endParaRPr lang="en-US" sz="2599" i="1">
                  <a:solidFill>
                    <a:srgbClr val="FFFFFF"/>
                  </a:solidFill>
                  <a:latin typeface="Lato Italics"/>
                  <a:ea typeface="Lato Italics"/>
                  <a:cs typeface="Lato Italics"/>
                  <a:sym typeface="Lato Italics"/>
                </a:endParaRPr>
              </a:p>
              <a:p>
                <a:pPr algn="l">
                  <a:lnSpc>
                    <a:spcPts val="2660"/>
                  </a:lnSpc>
                </a:pPr>
                <a:endParaRPr lang="en-US" sz="2599" i="1">
                  <a:solidFill>
                    <a:srgbClr val="FFFFFF"/>
                  </a:solidFill>
                  <a:latin typeface="Lato Italics"/>
                  <a:ea typeface="Lato Italics"/>
                  <a:cs typeface="Lato Italics"/>
                  <a:sym typeface="Lato Italics"/>
                </a:endParaRPr>
              </a:p>
              <a:p>
                <a:pPr algn="l">
                  <a:lnSpc>
                    <a:spcPts val="2660"/>
                  </a:lnSpc>
                </a:pPr>
                <a:endParaRPr lang="en-US" sz="2599" i="1">
                  <a:solidFill>
                    <a:srgbClr val="FFFFFF"/>
                  </a:solidFill>
                  <a:latin typeface="Lato Italics"/>
                  <a:ea typeface="Lato Italics"/>
                  <a:cs typeface="Lato Italics"/>
                  <a:sym typeface="Lato Italics"/>
                </a:endParaRPr>
              </a:p>
              <a:p>
                <a:pPr algn="l">
                  <a:lnSpc>
                    <a:spcPts val="2660"/>
                  </a:lnSpc>
                </a:pPr>
                <a:endParaRPr lang="en-US" sz="2599" i="1">
                  <a:solidFill>
                    <a:srgbClr val="FFFFFF"/>
                  </a:solidFill>
                  <a:latin typeface="Lato Italics"/>
                  <a:ea typeface="Lato Italics"/>
                  <a:cs typeface="Lato Italics"/>
                  <a:sym typeface="Lato Italics"/>
                </a:endParaRPr>
              </a:p>
              <a:p>
                <a:pPr algn="l">
                  <a:lnSpc>
                    <a:spcPts val="2660"/>
                  </a:lnSpc>
                </a:pPr>
                <a:endParaRPr lang="en-US" sz="2599" i="1">
                  <a:solidFill>
                    <a:srgbClr val="FFFFFF"/>
                  </a:solidFill>
                  <a:latin typeface="Lato Italics"/>
                  <a:ea typeface="Lato Italics"/>
                  <a:cs typeface="Lato Italics"/>
                  <a:sym typeface="Lato Italics"/>
                </a:endParaRPr>
              </a:p>
              <a:p>
                <a:pPr algn="l">
                  <a:lnSpc>
                    <a:spcPts val="2660"/>
                  </a:lnSpc>
                </a:pPr>
                <a:endParaRPr lang="en-US" sz="2599" i="1">
                  <a:solidFill>
                    <a:srgbClr val="FFFFFF"/>
                  </a:solidFill>
                  <a:latin typeface="Lato Italics"/>
                  <a:ea typeface="Lato Italics"/>
                  <a:cs typeface="Lato Italics"/>
                  <a:sym typeface="Lato Italics"/>
                </a:endParaRPr>
              </a:p>
              <a:p>
                <a:pPr algn="l">
                  <a:lnSpc>
                    <a:spcPts val="2660"/>
                  </a:lnSpc>
                </a:pPr>
                <a:endParaRPr lang="en-US" sz="2599" i="1">
                  <a:solidFill>
                    <a:srgbClr val="FFFFFF"/>
                  </a:solidFill>
                  <a:latin typeface="Lato Italics"/>
                  <a:ea typeface="Lato Italics"/>
                  <a:cs typeface="Lato Italics"/>
                  <a:sym typeface="Lato Italics"/>
                </a:endParaRPr>
              </a:p>
              <a:p>
                <a:pPr algn="l">
                  <a:lnSpc>
                    <a:spcPts val="2660"/>
                  </a:lnSpc>
                </a:pPr>
                <a:endParaRPr lang="en-US" sz="2599" i="1">
                  <a:solidFill>
                    <a:srgbClr val="FFFFFF"/>
                  </a:solidFill>
                  <a:latin typeface="Lato Italics"/>
                  <a:ea typeface="Lato Italics"/>
                  <a:cs typeface="Lato Italics"/>
                  <a:sym typeface="Lato Italics"/>
                </a:endParaRPr>
              </a:p>
              <a:p>
                <a:pPr algn="l">
                  <a:lnSpc>
                    <a:spcPts val="2660"/>
                  </a:lnSpc>
                </a:pPr>
                <a:endParaRPr lang="en-US" sz="2599" i="1">
                  <a:solidFill>
                    <a:srgbClr val="FFFFFF"/>
                  </a:solidFill>
                  <a:latin typeface="Lato Italics"/>
                  <a:ea typeface="Lato Italics"/>
                  <a:cs typeface="Lato Italics"/>
                  <a:sym typeface="Lato Italics"/>
                </a:endParaRPr>
              </a:p>
              <a:p>
                <a:pPr algn="l">
                  <a:lnSpc>
                    <a:spcPts val="2660"/>
                  </a:lnSpc>
                </a:pPr>
                <a:endParaRPr lang="en-US" sz="2599" i="1">
                  <a:solidFill>
                    <a:srgbClr val="FFFFFF"/>
                  </a:solidFill>
                  <a:latin typeface="Lato Italics"/>
                  <a:ea typeface="Lato Italics"/>
                  <a:cs typeface="Lato Italics"/>
                  <a:sym typeface="Lato Italics"/>
                </a:endParaRPr>
              </a:p>
              <a:p>
                <a:pPr algn="l">
                  <a:lnSpc>
                    <a:spcPts val="2660"/>
                  </a:lnSpc>
                </a:pPr>
                <a:endParaRPr lang="en-US" sz="2599" i="1">
                  <a:solidFill>
                    <a:srgbClr val="FFFFFF"/>
                  </a:solidFill>
                  <a:latin typeface="Lato Italics"/>
                  <a:ea typeface="Lato Italics"/>
                  <a:cs typeface="Lato Italics"/>
                  <a:sym typeface="Lato Italics"/>
                </a:endParaRPr>
              </a:p>
              <a:p>
                <a:pPr algn="l">
                  <a:lnSpc>
                    <a:spcPts val="4619"/>
                  </a:lnSpc>
                </a:pPr>
                <a:r>
                  <a:rPr lang="en-US" sz="3299" i="1">
                    <a:solidFill>
                      <a:srgbClr val="FFFFFF"/>
                    </a:solidFill>
                    <a:latin typeface="Lato Italics"/>
                    <a:ea typeface="Lato Italics"/>
                    <a:cs typeface="Lato Italics"/>
                    <a:sym typeface="Lato Italics"/>
                  </a:rPr>
                  <a:t>GITHUB LINK: https://github.com/pksmart2008-code/Airport-Flight-tracker-Java-code</a:t>
                </a:r>
              </a:p>
              <a:p>
                <a:pPr algn="l">
                  <a:lnSpc>
                    <a:spcPts val="4619"/>
                  </a:lnSpc>
                </a:pPr>
                <a:endParaRPr lang="en-US" sz="3299" i="1">
                  <a:solidFill>
                    <a:srgbClr val="FFFFFF"/>
                  </a:solidFill>
                  <a:latin typeface="Lato Italics"/>
                  <a:ea typeface="Lato Italics"/>
                  <a:cs typeface="Lato Italics"/>
                  <a:sym typeface="Lato Italics"/>
                </a:endParaRPr>
              </a:p>
            </p:txBody>
          </p:sp>
        </p:grpSp>
        <p:sp>
          <p:nvSpPr>
            <p:cNvPr id="8" name="TextBox 8"/>
            <p:cNvSpPr txBox="1"/>
            <p:nvPr/>
          </p:nvSpPr>
          <p:spPr>
            <a:xfrm>
              <a:off x="149507" y="430532"/>
              <a:ext cx="20786876" cy="29732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8339"/>
                </a:lnSpc>
              </a:pPr>
              <a:r>
                <a:rPr lang="en-US" sz="8597">
                  <a:solidFill>
                    <a:srgbClr val="F4F4ED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Geo Tag Photo and Github link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110453" y="3692839"/>
              <a:ext cx="14590035" cy="47899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088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16596088" y="8892522"/>
            <a:ext cx="896420" cy="896420"/>
          </a:xfrm>
          <a:custGeom>
            <a:avLst/>
            <a:gdLst/>
            <a:ahLst/>
            <a:cxnLst/>
            <a:rect l="l" t="t" r="r" b="b"/>
            <a:pathLst>
              <a:path w="896420" h="896420">
                <a:moveTo>
                  <a:pt x="0" y="0"/>
                </a:moveTo>
                <a:lnTo>
                  <a:pt x="896421" y="0"/>
                </a:lnTo>
                <a:lnTo>
                  <a:pt x="896421" y="896421"/>
                </a:lnTo>
                <a:lnTo>
                  <a:pt x="0" y="8964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259" b="-9259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3999352" y="3186959"/>
            <a:ext cx="11749900" cy="17643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99"/>
              </a:lnSpc>
            </a:pPr>
            <a:r>
              <a:rPr lang="en-US" sz="14597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Thank You</a:t>
            </a:r>
          </a:p>
        </p:txBody>
      </p:sp>
      <p:sp>
        <p:nvSpPr>
          <p:cNvPr id="4" name="Freeform 4"/>
          <p:cNvSpPr/>
          <p:nvPr/>
        </p:nvSpPr>
        <p:spPr>
          <a:xfrm rot="10435729">
            <a:off x="-3241105" y="-2477065"/>
            <a:ext cx="7951775" cy="8527373"/>
          </a:xfrm>
          <a:custGeom>
            <a:avLst/>
            <a:gdLst/>
            <a:ahLst/>
            <a:cxnLst/>
            <a:rect l="l" t="t" r="r" b="b"/>
            <a:pathLst>
              <a:path w="7951775" h="8527373">
                <a:moveTo>
                  <a:pt x="0" y="0"/>
                </a:moveTo>
                <a:lnTo>
                  <a:pt x="7951775" y="0"/>
                </a:lnTo>
                <a:lnTo>
                  <a:pt x="7951775" y="8527373"/>
                </a:lnTo>
                <a:lnTo>
                  <a:pt x="0" y="852737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567</Words>
  <Application>Microsoft Office PowerPoint</Application>
  <PresentationFormat>Custom</PresentationFormat>
  <Paragraphs>121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Calibri</vt:lpstr>
      <vt:lpstr>Lato Italics</vt:lpstr>
      <vt:lpstr>Archivo Black</vt:lpstr>
      <vt:lpstr>Arial</vt:lpstr>
      <vt:lpstr>Red Hat Display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www.reallygreatsite.com</dc:title>
  <cp:lastModifiedBy>Praveen kumar SB</cp:lastModifiedBy>
  <cp:revision>1</cp:revision>
  <dcterms:created xsi:type="dcterms:W3CDTF">2006-08-16T00:00:00Z</dcterms:created>
  <dcterms:modified xsi:type="dcterms:W3CDTF">2026-10-16T06:13:40Z</dcterms:modified>
  <dc:identifier>DAHYEU0Cj0o</dc:identifier>
</cp:coreProperties>
</file>